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4595" r:id="rId1"/>
    <p:sldMasterId id="2147484607" r:id="rId2"/>
    <p:sldMasterId id="2147484619" r:id="rId3"/>
  </p:sldMasterIdLst>
  <p:notesMasterIdLst>
    <p:notesMasterId r:id="rId26"/>
  </p:notesMasterIdLst>
  <p:sldIdLst>
    <p:sldId id="256" r:id="rId4"/>
    <p:sldId id="257" r:id="rId5"/>
    <p:sldId id="258" r:id="rId6"/>
    <p:sldId id="260" r:id="rId7"/>
    <p:sldId id="259" r:id="rId8"/>
    <p:sldId id="261" r:id="rId9"/>
    <p:sldId id="264" r:id="rId10"/>
    <p:sldId id="267" r:id="rId11"/>
    <p:sldId id="262" r:id="rId12"/>
    <p:sldId id="263" r:id="rId13"/>
    <p:sldId id="265" r:id="rId14"/>
    <p:sldId id="266" r:id="rId15"/>
    <p:sldId id="274" r:id="rId16"/>
    <p:sldId id="276" r:id="rId17"/>
    <p:sldId id="270" r:id="rId18"/>
    <p:sldId id="271" r:id="rId19"/>
    <p:sldId id="277" r:id="rId20"/>
    <p:sldId id="279" r:id="rId21"/>
    <p:sldId id="278" r:id="rId22"/>
    <p:sldId id="281" r:id="rId23"/>
    <p:sldId id="275" r:id="rId24"/>
    <p:sldId id="269" r:id="rId25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69" d="100"/>
          <a:sy n="69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B5D80F8-AE4B-450F-90FC-D388A59FAD84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B0E627E-61A4-4E90-A508-8C9BB691DD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746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19954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9067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70458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82886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12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42923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13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46193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14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78139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15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29573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16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41118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17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2204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AC3016-CB36-4603-A4D9-9AC8213EDAF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665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DF1A3-BE06-4176-970C-AE2E1FC1BD8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263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E627E-61A4-4E90-A508-8C9BB691DDA3}" type="slidenum">
              <a:rPr lang="ar-SA" smtClean="0"/>
              <a:t>21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17877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93425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07215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ar-SA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3801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66624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17973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7600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86139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13561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 smtClean="0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24237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13814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44916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E299-79E8-9A3D-EDC5-BC01208D7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DE9D1-B7A6-2EBD-A70B-9609DEAB7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B5F34-E1B4-BC4F-D683-3569123C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F2033-582C-9229-5633-E43C496D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BC9B5-E4FD-FE90-B149-833CA4C5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155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4D89-7343-3F1E-25B4-2EE2F4C8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AF98D-2E40-6AF4-071C-E1F9C9591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48C03-58A4-97DA-5059-822855EE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7367D-96C9-F95D-48E5-E77D417A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E8F6E-D0AF-276D-0E3E-77B64F4F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856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F015-42C4-D8FF-20D5-4100CBBAF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FBA40-2472-9070-0DD8-21B23C7DC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BA5D5-FF4F-2491-B1F2-8F768FA9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F9531-F0CB-A430-DAEE-F54011C14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AB23A-FBC5-B17F-649B-705C9836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729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57B7-2FAD-0FC1-E5CF-F114BD46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DC386-37AA-21D8-26AF-2884DB50B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7F1FE-5693-459A-2DEB-23F91E08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31C64-845B-1ADE-ADAC-EFD3FBA0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C64CD-AA57-0C1D-546B-26B384F0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EDFFA-BC1D-17F1-BCA1-01A58156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742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F77D-BDB8-A021-4824-F3A370CA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D166B-C4EE-3F7F-0E55-64F6DC10D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6E122-996C-347B-F379-9C9388AF9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E2C07-D969-9515-92A3-BBA9E060C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A8266-6F8D-A977-7092-5D1CB0DCB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A4912-9D26-9AB9-B266-80D931F5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478B1-B514-44D2-1F3A-6C7D19E9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B4787C-DDDE-9DAA-EBC2-97F29231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761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561AB-8CF4-28D3-5AF2-F0B99541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F6AD39-2CC9-B79D-591E-22FEAB68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C8EB8-3F33-B969-DF96-E5182BDE3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BBD84-042A-D43E-0D64-5D9E879DD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4286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497418-A095-9E27-2293-C8D3C68DF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4CCA9-3494-391C-8065-C2036529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FAE5C-108A-9442-909A-B6E14F00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4017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EDE6-E889-3BE5-1D39-1C06933A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FA1A1-58CE-88F4-EC60-DA94AD46C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FED2-70CA-8DC2-73BF-F3D097191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90B39-8045-E6CC-3CB6-CB1BA600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21F4F-A011-65B9-91BD-D536BECEF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EEEC8-2744-D912-012C-CDD1C5B9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5257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7838-DD3E-4A03-85CA-810253F1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4E100-9261-CBD7-43C3-A5B17F063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D3130-C68C-24EB-99DC-F1C281FEA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D4ABF-50E4-5891-104C-CEF87FA7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4E052-C9C7-FB92-B892-38B0A4AF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B114A-64F1-694D-07A0-8F9F6259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6346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D494-FD2F-4CFD-629E-B20F62EC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E4F64-44F8-67F9-844C-1CAC4A654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D8F97-D22C-5668-CAA4-AD134051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892C7-3AED-B05F-59B0-2B768B402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741DF-29A2-9A5D-46A6-15537F26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08225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D79E5-45AC-23D7-8C82-D0EBE430A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C5FF9-A149-5F79-19F3-BFF15343B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D509B-FBE9-8333-ECCD-64332D51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5F773-54DF-2F82-BB1D-8429B9150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9C6F0-A8F9-4C50-2FB0-F1A42FC2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1675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E299-79E8-9A3D-EDC5-BC01208D7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DE9D1-B7A6-2EBD-A70B-9609DEAB7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B5F34-E1B4-BC4F-D683-3569123C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F2033-582C-9229-5633-E43C496D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BC9B5-E4FD-FE90-B149-833CA4C5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3801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4D89-7343-3F1E-25B4-2EE2F4C8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AF98D-2E40-6AF4-071C-E1F9C9591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48C03-58A4-97DA-5059-822855EE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7367D-96C9-F95D-48E5-E77D417A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E8F6E-D0AF-276D-0E3E-77B64F4F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8652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F015-42C4-D8FF-20D5-4100CBBAF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FBA40-2472-9070-0DD8-21B23C7DC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BA5D5-FF4F-2491-B1F2-8F768FA9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F9531-F0CB-A430-DAEE-F54011C14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AB23A-FBC5-B17F-649B-705C9836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250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57B7-2FAD-0FC1-E5CF-F114BD46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DC386-37AA-21D8-26AF-2884DB50B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7F1FE-5693-459A-2DEB-23F91E08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31C64-845B-1ADE-ADAC-EFD3FBA0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C64CD-AA57-0C1D-546B-26B384F0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EDFFA-BC1D-17F1-BCA1-01A58156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055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F77D-BDB8-A021-4824-F3A370CA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D166B-C4EE-3F7F-0E55-64F6DC10D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6E122-996C-347B-F379-9C9388AF9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E2C07-D969-9515-92A3-BBA9E060C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A8266-6F8D-A977-7092-5D1CB0DCB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A4912-9D26-9AB9-B266-80D931F5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478B1-B514-44D2-1F3A-6C7D19E9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B4787C-DDDE-9DAA-EBC2-97F29231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11440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561AB-8CF4-28D3-5AF2-F0B99541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F6AD39-2CC9-B79D-591E-22FEAB68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C8EB8-3F33-B969-DF96-E5182BDE3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BBD84-042A-D43E-0D64-5D9E879DD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1632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497418-A095-9E27-2293-C8D3C68DF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4CCA9-3494-391C-8065-C2036529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FAE5C-108A-9442-909A-B6E14F00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1147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EDE6-E889-3BE5-1D39-1C06933A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FA1A1-58CE-88F4-EC60-DA94AD46C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FED2-70CA-8DC2-73BF-F3D097191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90B39-8045-E6CC-3CB6-CB1BA600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21F4F-A011-65B9-91BD-D536BECEF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EEEC8-2744-D912-012C-CDD1C5B9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8920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7838-DD3E-4A03-85CA-810253F1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4E100-9261-CBD7-43C3-A5B17F063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D3130-C68C-24EB-99DC-F1C281FEA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D4ABF-50E4-5891-104C-CEF87FA7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4E052-C9C7-FB92-B892-38B0A4AF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B114A-64F1-694D-07A0-8F9F6259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4071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D494-FD2F-4CFD-629E-B20F62EC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E4F64-44F8-67F9-844C-1CAC4A654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D8F97-D22C-5668-CAA4-AD134051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892C7-3AED-B05F-59B0-2B768B402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741DF-29A2-9A5D-46A6-15537F26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4796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D79E5-45AC-23D7-8C82-D0EBE430A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C5FF9-A149-5F79-19F3-BFF15343B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D509B-FBE9-8333-ECCD-64332D51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5F773-54DF-2F82-BB1D-8429B9150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9C6F0-A8F9-4C50-2FB0-F1A42FC2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16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088B5CA-3C2A-4FEC-BB73-D9784F2C39FB}" type="datetimeFigureOut">
              <a:rPr lang="ar-SA" smtClean="0"/>
              <a:t>14/07/46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64CC36B5-178A-4C3A-99B2-5FE87BFA1F5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0657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6" r:id="rId1"/>
    <p:sldLayoutId id="2147484597" r:id="rId2"/>
    <p:sldLayoutId id="2147484598" r:id="rId3"/>
    <p:sldLayoutId id="2147484599" r:id="rId4"/>
    <p:sldLayoutId id="2147484600" r:id="rId5"/>
    <p:sldLayoutId id="2147484601" r:id="rId6"/>
    <p:sldLayoutId id="2147484602" r:id="rId7"/>
    <p:sldLayoutId id="2147484603" r:id="rId8"/>
    <p:sldLayoutId id="2147484604" r:id="rId9"/>
    <p:sldLayoutId id="2147484605" r:id="rId10"/>
    <p:sldLayoutId id="2147484606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r" defTabSz="914400" rtl="1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r" defTabSz="914400" rtl="1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36060F-4806-2AC5-2D9C-5F9F1BDB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3E6CE-B8C4-F606-9688-58ABEBDC6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AD81-0856-F558-45F8-7F111C9FE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EED4B-8EBE-F1A1-F4B6-D99AAFD6C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90A8A-A8E0-F7D3-7750-B3ACF80FE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62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8" r:id="rId1"/>
    <p:sldLayoutId id="2147484609" r:id="rId2"/>
    <p:sldLayoutId id="2147484610" r:id="rId3"/>
    <p:sldLayoutId id="2147484611" r:id="rId4"/>
    <p:sldLayoutId id="2147484612" r:id="rId5"/>
    <p:sldLayoutId id="2147484613" r:id="rId6"/>
    <p:sldLayoutId id="2147484614" r:id="rId7"/>
    <p:sldLayoutId id="2147484615" r:id="rId8"/>
    <p:sldLayoutId id="2147484616" r:id="rId9"/>
    <p:sldLayoutId id="2147484617" r:id="rId10"/>
    <p:sldLayoutId id="21474846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36060F-4806-2AC5-2D9C-5F9F1BDB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3E6CE-B8C4-F606-9688-58ABEBDC6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AD81-0856-F558-45F8-7F111C9FE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9FCAD9-7633-CD4F-AFD7-CE2F37D12C58}" type="datetimeFigureOut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01/14/2025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EED4B-8EBE-F1A1-F4B6-D99AAFD6C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90A8A-A8E0-F7D3-7750-B3ACF80FE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DF94C-D1B7-CC4B-81C5-57D6C63CB2EA}" type="slidenum">
              <a:rPr kumimoji="0" lang="en-S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S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12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0" r:id="rId1"/>
    <p:sldLayoutId id="2147484621" r:id="rId2"/>
    <p:sldLayoutId id="2147484622" r:id="rId3"/>
    <p:sldLayoutId id="2147484623" r:id="rId4"/>
    <p:sldLayoutId id="2147484624" r:id="rId5"/>
    <p:sldLayoutId id="2147484625" r:id="rId6"/>
    <p:sldLayoutId id="2147484626" r:id="rId7"/>
    <p:sldLayoutId id="2147484627" r:id="rId8"/>
    <p:sldLayoutId id="2147484628" r:id="rId9"/>
    <p:sldLayoutId id="2147484629" r:id="rId10"/>
    <p:sldLayoutId id="21474846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q_2WN0s6L0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ar-SA" dirty="0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Chapter1 – part1 </a:t>
            </a:r>
            <a:endParaRPr lang="ar-S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27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Chemistry? </a:t>
            </a:r>
            <a:endParaRPr lang="ar-SA" dirty="0"/>
          </a:p>
        </p:txBody>
      </p:sp>
      <p:pic>
        <p:nvPicPr>
          <p:cNvPr id="3" name="صورة 2"/>
          <p:cNvPicPr>
            <a:picLocks noChangeAspect="1"/>
          </p:cNvPicPr>
          <p:nvPr/>
        </p:nvPicPr>
        <p:blipFill rotWithShape="1">
          <a:blip r:embed="rId2"/>
          <a:srcRect l="12731" t="46306" r="7939" b="36838"/>
          <a:stretch/>
        </p:blipFill>
        <p:spPr>
          <a:xfrm>
            <a:off x="1069848" y="1842654"/>
            <a:ext cx="10321636" cy="1233055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5991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42109" y="124414"/>
            <a:ext cx="10058400" cy="1609344"/>
          </a:xfrm>
        </p:spPr>
        <p:txBody>
          <a:bodyPr/>
          <a:lstStyle/>
          <a:p>
            <a:r>
              <a:rPr lang="en-US" dirty="0" smtClean="0"/>
              <a:t>Matter</a:t>
            </a:r>
            <a:endParaRPr lang="ar-SA" dirty="0"/>
          </a:p>
        </p:txBody>
      </p:sp>
      <p:pic>
        <p:nvPicPr>
          <p:cNvPr id="8" name="صورة 7"/>
          <p:cNvPicPr>
            <a:picLocks noChangeAspect="1"/>
          </p:cNvPicPr>
          <p:nvPr/>
        </p:nvPicPr>
        <p:blipFill rotWithShape="1">
          <a:blip r:embed="rId2"/>
          <a:srcRect b="33098"/>
          <a:stretch/>
        </p:blipFill>
        <p:spPr>
          <a:xfrm>
            <a:off x="3333529" y="2527238"/>
            <a:ext cx="7888653" cy="4067526"/>
          </a:xfrm>
          <a:prstGeom prst="rect">
            <a:avLst/>
          </a:prstGeom>
        </p:spPr>
      </p:pic>
      <p:sp>
        <p:nvSpPr>
          <p:cNvPr id="3" name="مستطيل 2"/>
          <p:cNvSpPr/>
          <p:nvPr/>
        </p:nvSpPr>
        <p:spPr>
          <a:xfrm>
            <a:off x="184991" y="1325850"/>
            <a:ext cx="1031675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u="sng" dirty="0" smtClean="0">
                <a:solidFill>
                  <a:srgbClr val="FF0000"/>
                </a:solidFill>
              </a:rPr>
              <a:t>Matter</a:t>
            </a:r>
            <a:r>
              <a:rPr lang="en-US" sz="2400" dirty="0" smtClean="0"/>
              <a:t> is made up of basic “ingredients” known as </a:t>
            </a:r>
            <a:r>
              <a:rPr lang="en-US" sz="2400" dirty="0" smtClean="0">
                <a:solidFill>
                  <a:srgbClr val="00B050"/>
                </a:solidFill>
              </a:rPr>
              <a:t>atoms</a:t>
            </a:r>
            <a:r>
              <a:rPr lang="en-US" sz="2400" dirty="0" smtClean="0"/>
              <a:t>.</a:t>
            </a:r>
          </a:p>
          <a:p>
            <a:pPr algn="l" rtl="0"/>
            <a:r>
              <a:rPr lang="en-US" sz="2400" dirty="0" smtClean="0"/>
              <a:t> </a:t>
            </a:r>
          </a:p>
          <a:p>
            <a:pPr algn="l" rtl="0"/>
            <a:r>
              <a:rPr lang="en-US" sz="2000" dirty="0" smtClean="0"/>
              <a:t>• An </a:t>
            </a:r>
            <a:r>
              <a:rPr lang="en-US" sz="2000" b="1" dirty="0" smtClean="0">
                <a:solidFill>
                  <a:srgbClr val="00B050"/>
                </a:solidFill>
              </a:rPr>
              <a:t>atom</a:t>
            </a:r>
            <a:r>
              <a:rPr lang="en-US" sz="2000" dirty="0" smtClean="0"/>
              <a:t> is the smallest unit of an element that </a:t>
            </a:r>
          </a:p>
          <a:p>
            <a:pPr algn="l" rtl="0"/>
            <a:r>
              <a:rPr lang="en-US" sz="2000" dirty="0" smtClean="0"/>
              <a:t>maintains the properties of that element.</a:t>
            </a:r>
          </a:p>
          <a:p>
            <a:pPr algn="l" rtl="0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543353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12931" y="-196789"/>
            <a:ext cx="10058400" cy="1609344"/>
          </a:xfrm>
        </p:spPr>
        <p:txBody>
          <a:bodyPr/>
          <a:lstStyle/>
          <a:p>
            <a:r>
              <a:rPr lang="en-US" dirty="0" smtClean="0"/>
              <a:t>Matter</a:t>
            </a:r>
            <a:endParaRPr lang="ar-SA" dirty="0"/>
          </a:p>
        </p:txBody>
      </p:sp>
      <p:sp>
        <p:nvSpPr>
          <p:cNvPr id="3" name="مستطيل 2"/>
          <p:cNvSpPr/>
          <p:nvPr/>
        </p:nvSpPr>
        <p:spPr>
          <a:xfrm>
            <a:off x="683753" y="1057437"/>
            <a:ext cx="121178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B050"/>
                </a:solidFill>
              </a:rPr>
              <a:t>Substances</a:t>
            </a:r>
            <a:r>
              <a:rPr lang="en-US" sz="2400" dirty="0" smtClean="0"/>
              <a:t> are classified as elements and compounds.</a:t>
            </a:r>
            <a:endParaRPr lang="ar-SA" sz="2400" dirty="0"/>
          </a:p>
        </p:txBody>
      </p:sp>
      <p:sp>
        <p:nvSpPr>
          <p:cNvPr id="4" name="مستطيل 3"/>
          <p:cNvSpPr/>
          <p:nvPr/>
        </p:nvSpPr>
        <p:spPr>
          <a:xfrm>
            <a:off x="685803" y="2009194"/>
            <a:ext cx="701039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2000" dirty="0" smtClean="0"/>
              <a:t>An </a:t>
            </a:r>
            <a:r>
              <a:rPr lang="en-US" sz="2000" b="1" dirty="0" smtClean="0">
                <a:solidFill>
                  <a:srgbClr val="00B050"/>
                </a:solidFill>
              </a:rPr>
              <a:t>element</a:t>
            </a:r>
            <a:r>
              <a:rPr lang="en-US" sz="2000" dirty="0" smtClean="0"/>
              <a:t> is made of only one kind of atom</a:t>
            </a:r>
            <a:r>
              <a:rPr lang="en-US" sz="2000" dirty="0" smtClean="0"/>
              <a:t>.</a:t>
            </a:r>
          </a:p>
          <a:p>
            <a:pPr algn="l" rtl="0"/>
            <a:endParaRPr lang="en-US" sz="2000" dirty="0" smtClean="0"/>
          </a:p>
          <a:p>
            <a:pPr algn="l" rtl="0"/>
            <a:endParaRPr lang="en-US" sz="2000" dirty="0" smtClean="0"/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A </a:t>
            </a:r>
            <a:r>
              <a:rPr lang="en-US" sz="2000" b="1" dirty="0">
                <a:solidFill>
                  <a:srgbClr val="00B050"/>
                </a:solidFill>
              </a:rPr>
              <a:t>Molecule of </a:t>
            </a:r>
            <a:r>
              <a:rPr lang="en-US" sz="2000" b="1" dirty="0" smtClean="0">
                <a:solidFill>
                  <a:srgbClr val="00B050"/>
                </a:solidFill>
              </a:rPr>
              <a:t>element i</a:t>
            </a:r>
            <a:r>
              <a:rPr lang="en-US" sz="2000" dirty="0" smtClean="0">
                <a:solidFill>
                  <a:srgbClr val="FF0000"/>
                </a:solidFill>
              </a:rPr>
              <a:t>s </a:t>
            </a:r>
            <a:r>
              <a:rPr lang="en-US" sz="2000" dirty="0">
                <a:solidFill>
                  <a:srgbClr val="FF0000"/>
                </a:solidFill>
              </a:rPr>
              <a:t>made of only one kind of atom</a:t>
            </a:r>
            <a:r>
              <a:rPr lang="en-US" sz="1400" dirty="0">
                <a:solidFill>
                  <a:prstClr val="black"/>
                </a:solidFill>
              </a:rPr>
              <a:t>.</a:t>
            </a:r>
          </a:p>
          <a:p>
            <a:pPr algn="l" rtl="0"/>
            <a:endParaRPr lang="en-US" sz="2000" dirty="0" smtClean="0"/>
          </a:p>
          <a:p>
            <a:pPr algn="l" rtl="0"/>
            <a:endParaRPr lang="en-US" sz="2000" dirty="0"/>
          </a:p>
          <a:p>
            <a:pPr algn="l" rtl="0"/>
            <a:endParaRPr lang="en-US" sz="2000" dirty="0" smtClean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2000" dirty="0" smtClean="0"/>
              <a:t>A </a:t>
            </a:r>
            <a:r>
              <a:rPr lang="en-US" sz="2000" dirty="0">
                <a:solidFill>
                  <a:srgbClr val="00B050"/>
                </a:solidFill>
              </a:rPr>
              <a:t>Molecule </a:t>
            </a:r>
            <a:r>
              <a:rPr lang="en-US" sz="2000" dirty="0" smtClean="0">
                <a:solidFill>
                  <a:srgbClr val="00B050"/>
                </a:solidFill>
              </a:rPr>
              <a:t>of </a:t>
            </a:r>
            <a:r>
              <a:rPr lang="en-US" sz="2000" b="1" dirty="0" smtClean="0">
                <a:solidFill>
                  <a:srgbClr val="00B050"/>
                </a:solidFill>
              </a:rPr>
              <a:t>compound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smtClean="0"/>
              <a:t>is made up of different kinds of atoms that are chemically combined. </a:t>
            </a:r>
            <a:endParaRPr lang="en-US" sz="2000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 rotWithShape="1">
          <a:blip r:embed="rId3"/>
          <a:srcRect l="71509" t="47632" r="15926" b="31535"/>
          <a:stretch/>
        </p:blipFill>
        <p:spPr>
          <a:xfrm>
            <a:off x="8922327" y="3108803"/>
            <a:ext cx="1801091" cy="1678982"/>
          </a:xfrm>
          <a:prstGeom prst="rect">
            <a:avLst/>
          </a:prstGeom>
        </p:spPr>
      </p:pic>
      <p:pic>
        <p:nvPicPr>
          <p:cNvPr id="8" name="صورة 7"/>
          <p:cNvPicPr>
            <a:picLocks noChangeAspect="1"/>
          </p:cNvPicPr>
          <p:nvPr/>
        </p:nvPicPr>
        <p:blipFill rotWithShape="1">
          <a:blip r:embed="rId3"/>
          <a:srcRect l="36369" t="36269" r="34294" b="43844"/>
          <a:stretch/>
        </p:blipFill>
        <p:spPr>
          <a:xfrm>
            <a:off x="7696199" y="1586588"/>
            <a:ext cx="3816928" cy="145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58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3" name="صورة 2"/>
          <p:cNvPicPr>
            <a:picLocks noChangeAspect="1"/>
          </p:cNvPicPr>
          <p:nvPr/>
        </p:nvPicPr>
        <p:blipFill rotWithShape="1">
          <a:blip r:embed="rId2"/>
          <a:srcRect l="19120" t="14868" r="17417" b="11458"/>
          <a:stretch/>
        </p:blipFill>
        <p:spPr>
          <a:xfrm>
            <a:off x="0" y="0"/>
            <a:ext cx="12192000" cy="688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54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13884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dirty="0"/>
              <a:t>What are pure substances</a:t>
            </a:r>
            <a:r>
              <a:rPr lang="en-US" sz="4000" dirty="0" smtClean="0"/>
              <a:t>?</a:t>
            </a:r>
            <a:endParaRPr lang="ar-SA" sz="4000" dirty="0"/>
          </a:p>
        </p:txBody>
      </p:sp>
      <p:sp>
        <p:nvSpPr>
          <p:cNvPr id="3" name="مستطيل 2"/>
          <p:cNvSpPr/>
          <p:nvPr/>
        </p:nvSpPr>
        <p:spPr>
          <a:xfrm>
            <a:off x="471055" y="1166290"/>
            <a:ext cx="708141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A pure substance is a substance with definite physical and chemical properties. 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Pure substances are made up of just one type of </a:t>
            </a:r>
            <a:r>
              <a:rPr lang="en-US" sz="2000" b="1" dirty="0" smtClean="0">
                <a:solidFill>
                  <a:srgbClr val="FF0000"/>
                </a:solidFill>
              </a:rPr>
              <a:t>particle</a:t>
            </a:r>
            <a:r>
              <a:rPr lang="en-US" sz="2000" dirty="0" smtClean="0"/>
              <a:t>. 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Element, molecule and molecule of Compounds </a:t>
            </a:r>
            <a:r>
              <a:rPr lang="en-US" sz="2000" dirty="0" smtClean="0"/>
              <a:t>are Pure substances </a:t>
            </a: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 rotWithShape="1">
          <a:blip r:embed="rId3"/>
          <a:srcRect b="50472"/>
          <a:stretch/>
        </p:blipFill>
        <p:spPr>
          <a:xfrm>
            <a:off x="8065086" y="1852793"/>
            <a:ext cx="3851131" cy="19849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5220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9837" y="-415211"/>
            <a:ext cx="10058400" cy="1609344"/>
          </a:xfrm>
        </p:spPr>
        <p:txBody>
          <a:bodyPr>
            <a:normAutofit/>
          </a:bodyPr>
          <a:lstStyle/>
          <a:p>
            <a:r>
              <a:rPr lang="en-US" sz="2800" dirty="0"/>
              <a:t>How can pure substance  be classified?</a:t>
            </a:r>
            <a:endParaRPr lang="ar-SA" sz="2800" dirty="0"/>
          </a:p>
        </p:txBody>
      </p:sp>
      <p:cxnSp>
        <p:nvCxnSpPr>
          <p:cNvPr id="6" name="رابط كسهم مستقيم 5"/>
          <p:cNvCxnSpPr/>
          <p:nvPr/>
        </p:nvCxnSpPr>
        <p:spPr>
          <a:xfrm>
            <a:off x="2323067" y="1220694"/>
            <a:ext cx="3201211" cy="2544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رابط كسهم مستقيم 7"/>
          <p:cNvCxnSpPr/>
          <p:nvPr/>
        </p:nvCxnSpPr>
        <p:spPr>
          <a:xfrm flipH="1">
            <a:off x="1574265" y="1206006"/>
            <a:ext cx="748802" cy="4571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مستطيل 13"/>
          <p:cNvSpPr/>
          <p:nvPr/>
        </p:nvSpPr>
        <p:spPr>
          <a:xfrm>
            <a:off x="132797" y="2274983"/>
            <a:ext cx="5241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 smtClean="0"/>
              <a:t>Elements are classified </a:t>
            </a:r>
            <a:r>
              <a:rPr lang="en-US" b="1" dirty="0" smtClean="0"/>
              <a:t>as </a:t>
            </a:r>
            <a:r>
              <a:rPr lang="en-US" b="1" dirty="0" smtClean="0">
                <a:solidFill>
                  <a:srgbClr val="FF0000"/>
                </a:solidFill>
              </a:rPr>
              <a:t>metals, </a:t>
            </a:r>
            <a:r>
              <a:rPr lang="en-US" b="1" dirty="0" smtClean="0">
                <a:solidFill>
                  <a:srgbClr val="FF0000"/>
                </a:solidFill>
              </a:rPr>
              <a:t>nonmetals and metalloids</a:t>
            </a:r>
            <a:endParaRPr lang="ar-SA" b="1" dirty="0">
              <a:solidFill>
                <a:srgbClr val="FF0000"/>
              </a:solidFill>
            </a:endParaRPr>
          </a:p>
        </p:txBody>
      </p:sp>
      <p:sp>
        <p:nvSpPr>
          <p:cNvPr id="15" name="مستطيل 14"/>
          <p:cNvSpPr/>
          <p:nvPr/>
        </p:nvSpPr>
        <p:spPr>
          <a:xfrm>
            <a:off x="5524278" y="2598148"/>
            <a:ext cx="2526681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/>
            <a:r>
              <a:rPr lang="en-US" b="1" dirty="0" smtClean="0"/>
              <a:t>A</a:t>
            </a:r>
            <a:r>
              <a:rPr lang="en-US" dirty="0" smtClean="0"/>
              <a:t>- </a:t>
            </a:r>
            <a:r>
              <a:rPr lang="en-US" dirty="0" smtClean="0"/>
              <a:t>Compounds can be classified as </a:t>
            </a:r>
            <a:r>
              <a:rPr lang="en-US" b="1" dirty="0" smtClean="0">
                <a:solidFill>
                  <a:srgbClr val="FF0000"/>
                </a:solidFill>
              </a:rPr>
              <a:t>acidic, basic, or neutral </a:t>
            </a:r>
            <a:r>
              <a:rPr lang="en-US" dirty="0" smtClean="0"/>
              <a:t>by measuring </a:t>
            </a:r>
            <a:r>
              <a:rPr lang="en-US" dirty="0" err="1" smtClean="0"/>
              <a:t>pH.</a:t>
            </a:r>
            <a:r>
              <a:rPr lang="en-US" dirty="0" smtClean="0"/>
              <a:t> </a:t>
            </a:r>
            <a:endParaRPr lang="ar-SA" dirty="0"/>
          </a:p>
        </p:txBody>
      </p:sp>
      <p:pic>
        <p:nvPicPr>
          <p:cNvPr id="20" name="صورة 19"/>
          <p:cNvPicPr>
            <a:picLocks noChangeAspect="1"/>
          </p:cNvPicPr>
          <p:nvPr/>
        </p:nvPicPr>
        <p:blipFill rotWithShape="1">
          <a:blip r:embed="rId3"/>
          <a:srcRect l="39032" t="30777" r="21357" b="36458"/>
          <a:stretch/>
        </p:blipFill>
        <p:spPr>
          <a:xfrm>
            <a:off x="279590" y="3092014"/>
            <a:ext cx="4947606" cy="33190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صورة 20"/>
          <p:cNvPicPr>
            <a:picLocks noChangeAspect="1"/>
          </p:cNvPicPr>
          <p:nvPr/>
        </p:nvPicPr>
        <p:blipFill rotWithShape="1">
          <a:blip r:embed="rId4"/>
          <a:srcRect l="21356" t="44603" r="18162" b="19034"/>
          <a:stretch/>
        </p:blipFill>
        <p:spPr>
          <a:xfrm>
            <a:off x="5925274" y="4035864"/>
            <a:ext cx="5334001" cy="27205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مربع نص 23"/>
          <p:cNvSpPr txBox="1"/>
          <p:nvPr/>
        </p:nvSpPr>
        <p:spPr>
          <a:xfrm>
            <a:off x="754865" y="1816279"/>
            <a:ext cx="147989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pPr algn="l" rtl="0"/>
            <a:r>
              <a:rPr lang="en-US" b="1" dirty="0" smtClean="0">
                <a:solidFill>
                  <a:srgbClr val="0070C0"/>
                </a:solidFill>
              </a:rPr>
              <a:t>1- Elements</a:t>
            </a:r>
            <a:endParaRPr lang="ar-SA" b="1" dirty="0">
              <a:solidFill>
                <a:srgbClr val="0070C0"/>
              </a:solidFill>
            </a:endParaRPr>
          </a:p>
        </p:txBody>
      </p:sp>
      <p:sp>
        <p:nvSpPr>
          <p:cNvPr id="25" name="مربع نص 24"/>
          <p:cNvSpPr txBox="1"/>
          <p:nvPr/>
        </p:nvSpPr>
        <p:spPr>
          <a:xfrm>
            <a:off x="5524278" y="2090317"/>
            <a:ext cx="26981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pPr algn="l" rtl="0"/>
            <a:r>
              <a:rPr lang="en-US" b="1" dirty="0" smtClean="0">
                <a:solidFill>
                  <a:srgbClr val="0070C0"/>
                </a:solidFill>
              </a:rPr>
              <a:t>Molecule of compound</a:t>
            </a:r>
            <a:endParaRPr lang="ar-SA" b="1" dirty="0">
              <a:solidFill>
                <a:srgbClr val="0070C0"/>
              </a:solidFill>
            </a:endParaRPr>
          </a:p>
        </p:txBody>
      </p:sp>
      <p:sp>
        <p:nvSpPr>
          <p:cNvPr id="26" name="مستطيل 25"/>
          <p:cNvSpPr/>
          <p:nvPr/>
        </p:nvSpPr>
        <p:spPr>
          <a:xfrm>
            <a:off x="1137204" y="669657"/>
            <a:ext cx="278646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 Black" panose="020B0A04020102020204"/>
                <a:ea typeface="+mj-ea"/>
                <a:cs typeface="+mj-cs"/>
              </a:rPr>
              <a:t>pure substance</a:t>
            </a:r>
            <a:endParaRPr lang="ar-SA" sz="1600" dirty="0">
              <a:solidFill>
                <a:srgbClr val="00B050"/>
              </a:solidFill>
            </a:endParaRPr>
          </a:p>
        </p:txBody>
      </p:sp>
      <p:sp>
        <p:nvSpPr>
          <p:cNvPr id="27" name="مستطيل 26"/>
          <p:cNvSpPr/>
          <p:nvPr/>
        </p:nvSpPr>
        <p:spPr>
          <a:xfrm>
            <a:off x="8431185" y="2627784"/>
            <a:ext cx="342986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B</a:t>
            </a:r>
            <a:r>
              <a:rPr lang="en-US" dirty="0" smtClean="0"/>
              <a:t>- </a:t>
            </a:r>
            <a:r>
              <a:rPr lang="en-US" dirty="0" smtClean="0"/>
              <a:t>Compounds can be </a:t>
            </a:r>
            <a:r>
              <a:rPr lang="en-US" b="1" dirty="0" smtClean="0">
                <a:solidFill>
                  <a:srgbClr val="FF0000"/>
                </a:solidFill>
              </a:rPr>
              <a:t>organic or inorganic</a:t>
            </a:r>
            <a:r>
              <a:rPr lang="en-US" dirty="0" smtClean="0"/>
              <a:t>. </a:t>
            </a:r>
            <a:endParaRPr lang="ar-SA" dirty="0"/>
          </a:p>
        </p:txBody>
      </p:sp>
      <p:sp>
        <p:nvSpPr>
          <p:cNvPr id="16" name="مربع نص 15"/>
          <p:cNvSpPr txBox="1"/>
          <p:nvPr/>
        </p:nvSpPr>
        <p:spPr>
          <a:xfrm>
            <a:off x="6076760" y="1194133"/>
            <a:ext cx="14414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pPr algn="l" rtl="0"/>
            <a:r>
              <a:rPr lang="en-US" b="1" dirty="0" smtClean="0">
                <a:solidFill>
                  <a:srgbClr val="0070C0"/>
                </a:solidFill>
              </a:rPr>
              <a:t>2- Molecule</a:t>
            </a:r>
            <a:endParaRPr lang="ar-SA" b="1" dirty="0">
              <a:solidFill>
                <a:srgbClr val="0070C0"/>
              </a:solidFill>
            </a:endParaRPr>
          </a:p>
        </p:txBody>
      </p:sp>
      <p:sp>
        <p:nvSpPr>
          <p:cNvPr id="17" name="مربع نص 16"/>
          <p:cNvSpPr txBox="1"/>
          <p:nvPr/>
        </p:nvSpPr>
        <p:spPr>
          <a:xfrm>
            <a:off x="9513810" y="1692912"/>
            <a:ext cx="23903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pPr algn="l" rtl="0"/>
            <a:r>
              <a:rPr lang="en-US" b="1" dirty="0" smtClean="0">
                <a:solidFill>
                  <a:srgbClr val="0070C0"/>
                </a:solidFill>
              </a:rPr>
              <a:t>Molecule of element</a:t>
            </a:r>
            <a:endParaRPr lang="ar-SA" b="1" dirty="0">
              <a:solidFill>
                <a:srgbClr val="0070C0"/>
              </a:solidFill>
            </a:endParaRPr>
          </a:p>
        </p:txBody>
      </p:sp>
      <p:cxnSp>
        <p:nvCxnSpPr>
          <p:cNvPr id="5" name="رابط كسهم مستقيم 4"/>
          <p:cNvCxnSpPr/>
          <p:nvPr/>
        </p:nvCxnSpPr>
        <p:spPr>
          <a:xfrm>
            <a:off x="6787618" y="1635395"/>
            <a:ext cx="0" cy="4268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رابط كسهم مستقيم 8"/>
          <p:cNvCxnSpPr/>
          <p:nvPr/>
        </p:nvCxnSpPr>
        <p:spPr>
          <a:xfrm>
            <a:off x="7805024" y="1431520"/>
            <a:ext cx="1574503" cy="4345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069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9837" y="-415211"/>
            <a:ext cx="10058400" cy="1609344"/>
          </a:xfrm>
        </p:spPr>
        <p:txBody>
          <a:bodyPr>
            <a:normAutofit/>
          </a:bodyPr>
          <a:lstStyle/>
          <a:p>
            <a:r>
              <a:rPr lang="en-US" sz="2800" dirty="0"/>
              <a:t>How can pure substance  be classified?</a:t>
            </a:r>
            <a:endParaRPr lang="ar-SA" sz="2800" dirty="0"/>
          </a:p>
        </p:txBody>
      </p:sp>
      <p:pic>
        <p:nvPicPr>
          <p:cNvPr id="3" name="صورة 2"/>
          <p:cNvPicPr>
            <a:picLocks noChangeAspect="1"/>
          </p:cNvPicPr>
          <p:nvPr/>
        </p:nvPicPr>
        <p:blipFill rotWithShape="1">
          <a:blip r:embed="rId3"/>
          <a:srcRect l="21143" t="16193" r="22634" b="13752"/>
          <a:stretch/>
        </p:blipFill>
        <p:spPr>
          <a:xfrm>
            <a:off x="1025236" y="645200"/>
            <a:ext cx="9739745" cy="6060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0482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1593" y="-180387"/>
            <a:ext cx="10058400" cy="1609344"/>
          </a:xfrm>
        </p:spPr>
        <p:txBody>
          <a:bodyPr>
            <a:normAutofit/>
          </a:bodyPr>
          <a:lstStyle/>
          <a:p>
            <a:pPr rtl="0"/>
            <a:r>
              <a:rPr lang="en-US" sz="3600" dirty="0"/>
              <a:t>What are mixtures?</a:t>
            </a:r>
            <a:endParaRPr lang="ar-SA" sz="3600" dirty="0"/>
          </a:p>
        </p:txBody>
      </p:sp>
      <p:sp>
        <p:nvSpPr>
          <p:cNvPr id="3" name="مستطيل 2"/>
          <p:cNvSpPr/>
          <p:nvPr/>
        </p:nvSpPr>
        <p:spPr>
          <a:xfrm>
            <a:off x="332508" y="1428957"/>
            <a:ext cx="83681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A mixture is a combination of two or more substances that are combined physically but not chemically.</a:t>
            </a:r>
          </a:p>
          <a:p>
            <a:pPr algn="l" rtl="0"/>
            <a:r>
              <a:rPr lang="en-US" sz="2000" dirty="0" smtClean="0">
                <a:solidFill>
                  <a:srgbClr val="0070C0"/>
                </a:solidFill>
              </a:rPr>
              <a:t>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 smtClean="0"/>
              <a:t>Mixtures are not pure substances and do </a:t>
            </a:r>
            <a:r>
              <a:rPr lang="en-US" sz="2000" b="1" dirty="0" smtClean="0">
                <a:solidFill>
                  <a:srgbClr val="FF0000"/>
                </a:solidFill>
              </a:rPr>
              <a:t>not</a:t>
            </a:r>
            <a:r>
              <a:rPr lang="en-US" sz="2000" dirty="0" smtClean="0"/>
              <a:t> have definite properties.</a:t>
            </a:r>
          </a:p>
          <a:p>
            <a:pPr algn="l" rtl="0"/>
            <a:endParaRPr lang="en-US" sz="2000" dirty="0" smtClean="0"/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 smtClean="0"/>
              <a:t>Mixtures can be separated by physical changes. </a:t>
            </a:r>
            <a:endParaRPr lang="ar-SA" sz="2000" dirty="0"/>
          </a:p>
        </p:txBody>
      </p:sp>
      <p:pic>
        <p:nvPicPr>
          <p:cNvPr id="5" name="صورة 4"/>
          <p:cNvPicPr>
            <a:picLocks noChangeAspect="1"/>
          </p:cNvPicPr>
          <p:nvPr/>
        </p:nvPicPr>
        <p:blipFill rotWithShape="1">
          <a:blip r:embed="rId2"/>
          <a:srcRect t="48145"/>
          <a:stretch/>
        </p:blipFill>
        <p:spPr>
          <a:xfrm>
            <a:off x="7815704" y="3038301"/>
            <a:ext cx="3851131" cy="20781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صورة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898" y="331512"/>
            <a:ext cx="2758577" cy="219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17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22223" y="-574109"/>
            <a:ext cx="10058400" cy="1609344"/>
          </a:xfrm>
        </p:spPr>
        <p:txBody>
          <a:bodyPr>
            <a:normAutofit/>
          </a:bodyPr>
          <a:lstStyle/>
          <a:p>
            <a:r>
              <a:rPr lang="en-US" sz="2400" dirty="0"/>
              <a:t>How can mixtures be classified</a:t>
            </a:r>
            <a:r>
              <a:rPr lang="en-US" sz="2400" dirty="0" smtClean="0"/>
              <a:t>?</a:t>
            </a:r>
            <a:endParaRPr lang="ar-SA" sz="2400" dirty="0"/>
          </a:p>
        </p:txBody>
      </p:sp>
      <p:sp>
        <p:nvSpPr>
          <p:cNvPr id="3" name="مستطيل 2"/>
          <p:cNvSpPr/>
          <p:nvPr/>
        </p:nvSpPr>
        <p:spPr>
          <a:xfrm>
            <a:off x="222223" y="1315291"/>
            <a:ext cx="5381517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/>
            <a:r>
              <a:rPr lang="en-US" sz="2400" dirty="0" smtClean="0">
                <a:solidFill>
                  <a:srgbClr val="0070C0"/>
                </a:solidFill>
              </a:rPr>
              <a:t>1-  A </a:t>
            </a:r>
            <a:r>
              <a:rPr lang="en-US" sz="2400" b="1" dirty="0" smtClean="0"/>
              <a:t>heterogeneous</a:t>
            </a:r>
            <a:r>
              <a:rPr lang="en-US" sz="2400" dirty="0" smtClean="0">
                <a:solidFill>
                  <a:srgbClr val="0070C0"/>
                </a:solidFill>
              </a:rPr>
              <a:t> mixture is one that does not have a uniform composition.</a:t>
            </a:r>
            <a:endParaRPr lang="ar-SA" sz="2400" dirty="0">
              <a:solidFill>
                <a:srgbClr val="0070C0"/>
              </a:solidFill>
            </a:endParaRPr>
          </a:p>
        </p:txBody>
      </p:sp>
      <p:sp>
        <p:nvSpPr>
          <p:cNvPr id="4" name="مستطيل 3"/>
          <p:cNvSpPr/>
          <p:nvPr/>
        </p:nvSpPr>
        <p:spPr>
          <a:xfrm>
            <a:off x="7082557" y="1369388"/>
            <a:ext cx="4951477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/>
            <a:r>
              <a:rPr lang="en-US" sz="2400" dirty="0" smtClean="0">
                <a:solidFill>
                  <a:srgbClr val="0070C0"/>
                </a:solidFill>
              </a:rPr>
              <a:t>2- A </a:t>
            </a:r>
            <a:r>
              <a:rPr lang="en-US" sz="2400" b="1" dirty="0" smtClean="0"/>
              <a:t>homogeneous</a:t>
            </a:r>
            <a:r>
              <a:rPr lang="en-US" sz="2400" dirty="0" smtClean="0">
                <a:solidFill>
                  <a:srgbClr val="0070C0"/>
                </a:solidFill>
              </a:rPr>
              <a:t> mixture has the same composition.</a:t>
            </a:r>
            <a:endParaRPr lang="ar-SA" sz="2400" dirty="0">
              <a:solidFill>
                <a:srgbClr val="0070C0"/>
              </a:solidFill>
            </a:endParaRPr>
          </a:p>
        </p:txBody>
      </p:sp>
      <p:pic>
        <p:nvPicPr>
          <p:cNvPr id="5" name="صورة 4"/>
          <p:cNvPicPr>
            <a:picLocks noChangeAspect="1"/>
          </p:cNvPicPr>
          <p:nvPr/>
        </p:nvPicPr>
        <p:blipFill rotWithShape="1">
          <a:blip r:embed="rId2"/>
          <a:srcRect l="54685" t="38163" r="21569" b="15625"/>
          <a:stretch/>
        </p:blipFill>
        <p:spPr>
          <a:xfrm>
            <a:off x="8736600" y="4102448"/>
            <a:ext cx="2407644" cy="26343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صورة 5"/>
          <p:cNvPicPr>
            <a:picLocks noChangeAspect="1"/>
          </p:cNvPicPr>
          <p:nvPr/>
        </p:nvPicPr>
        <p:blipFill rotWithShape="1">
          <a:blip r:embed="rId2"/>
          <a:srcRect l="20079" t="44413" r="50745" b="14678"/>
          <a:stretch/>
        </p:blipFill>
        <p:spPr>
          <a:xfrm>
            <a:off x="3590657" y="3900432"/>
            <a:ext cx="2984620" cy="23528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مستطيل 6"/>
          <p:cNvSpPr/>
          <p:nvPr/>
        </p:nvSpPr>
        <p:spPr>
          <a:xfrm>
            <a:off x="83245" y="3224658"/>
            <a:ext cx="3320777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 rtl="0"/>
            <a:r>
              <a:rPr lang="en-US" sz="2000" dirty="0" smtClean="0">
                <a:solidFill>
                  <a:srgbClr val="FF0000"/>
                </a:solidFill>
              </a:rPr>
              <a:t>Suspension </a:t>
            </a:r>
          </a:p>
          <a:p>
            <a:pPr algn="l" rtl="0"/>
            <a:r>
              <a:rPr lang="en-US" sz="2000" dirty="0" smtClean="0">
                <a:solidFill>
                  <a:srgbClr val="FF0000"/>
                </a:solidFill>
              </a:rPr>
              <a:t>Such as flour suspended in  water </a:t>
            </a:r>
            <a:endParaRPr lang="ar-SA" sz="2000" dirty="0">
              <a:solidFill>
                <a:srgbClr val="FF0000"/>
              </a:solidFill>
            </a:endParaRPr>
          </a:p>
        </p:txBody>
      </p:sp>
      <p:sp>
        <p:nvSpPr>
          <p:cNvPr id="8" name="مستطيل 7"/>
          <p:cNvSpPr/>
          <p:nvPr/>
        </p:nvSpPr>
        <p:spPr>
          <a:xfrm>
            <a:off x="3854268" y="3300267"/>
            <a:ext cx="2651688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l" rtl="0"/>
            <a:r>
              <a:rPr lang="en-US" sz="2000" dirty="0" smtClean="0">
                <a:solidFill>
                  <a:srgbClr val="FF0000"/>
                </a:solidFill>
              </a:rPr>
              <a:t>Colloids such as milk </a:t>
            </a:r>
            <a:endParaRPr lang="ar-SA" sz="2000" dirty="0">
              <a:solidFill>
                <a:srgbClr val="FF0000"/>
              </a:solidFill>
            </a:endParaRPr>
          </a:p>
        </p:txBody>
      </p:sp>
      <p:sp>
        <p:nvSpPr>
          <p:cNvPr id="9" name="مستطيل 8"/>
          <p:cNvSpPr/>
          <p:nvPr/>
        </p:nvSpPr>
        <p:spPr>
          <a:xfrm>
            <a:off x="7688844" y="3250289"/>
            <a:ext cx="4503156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l" rtl="0"/>
            <a:r>
              <a:rPr lang="en-US" sz="2000" dirty="0" smtClean="0">
                <a:solidFill>
                  <a:srgbClr val="FF0000"/>
                </a:solidFill>
              </a:rPr>
              <a:t>Solution such as salt dissolve in water</a:t>
            </a:r>
            <a:endParaRPr lang="ar-SA" sz="2000" dirty="0">
              <a:solidFill>
                <a:srgbClr val="FF0000"/>
              </a:solidFill>
            </a:endParaRPr>
          </a:p>
        </p:txBody>
      </p:sp>
      <p:cxnSp>
        <p:nvCxnSpPr>
          <p:cNvPr id="11" name="رابط كسهم مستقيم 10"/>
          <p:cNvCxnSpPr/>
          <p:nvPr/>
        </p:nvCxnSpPr>
        <p:spPr>
          <a:xfrm flipH="1">
            <a:off x="9551393" y="2335618"/>
            <a:ext cx="6902" cy="6828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رابط كسهم مستقيم 11"/>
          <p:cNvCxnSpPr/>
          <p:nvPr/>
        </p:nvCxnSpPr>
        <p:spPr>
          <a:xfrm flipH="1">
            <a:off x="1743634" y="2628600"/>
            <a:ext cx="1205346" cy="3760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رابط كسهم مستقيم 15"/>
          <p:cNvCxnSpPr/>
          <p:nvPr/>
        </p:nvCxnSpPr>
        <p:spPr>
          <a:xfrm>
            <a:off x="2948980" y="2628600"/>
            <a:ext cx="1593273" cy="4716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مستطيل 17"/>
          <p:cNvSpPr/>
          <p:nvPr/>
        </p:nvSpPr>
        <p:spPr>
          <a:xfrm>
            <a:off x="5180112" y="474266"/>
            <a:ext cx="1902445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00B050"/>
                </a:solidFill>
                <a:latin typeface="Arial Black" panose="020B0A04020102020204"/>
                <a:ea typeface="+mj-ea"/>
                <a:cs typeface="+mj-cs"/>
              </a:rPr>
              <a:t>Mixtures</a:t>
            </a:r>
            <a:endParaRPr lang="ar-SA" sz="2000" dirty="0">
              <a:solidFill>
                <a:srgbClr val="00B050"/>
              </a:solidFill>
            </a:endParaRPr>
          </a:p>
        </p:txBody>
      </p:sp>
      <p:cxnSp>
        <p:nvCxnSpPr>
          <p:cNvPr id="19" name="رابط كسهم مستقيم 18"/>
          <p:cNvCxnSpPr/>
          <p:nvPr/>
        </p:nvCxnSpPr>
        <p:spPr>
          <a:xfrm>
            <a:off x="7179702" y="960731"/>
            <a:ext cx="698324" cy="31415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رابط كسهم مستقيم 20"/>
          <p:cNvCxnSpPr/>
          <p:nvPr/>
        </p:nvCxnSpPr>
        <p:spPr>
          <a:xfrm flipH="1">
            <a:off x="4433454" y="949052"/>
            <a:ext cx="649513" cy="25325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مستطيل 12"/>
          <p:cNvSpPr/>
          <p:nvPr/>
        </p:nvSpPr>
        <p:spPr>
          <a:xfrm>
            <a:off x="0" y="6473241"/>
            <a:ext cx="54489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www.youtube.com/watch?v=mq_2WN0s6L0</a:t>
            </a:r>
            <a:r>
              <a:rPr lang="en-US" dirty="0" smtClean="0"/>
              <a:t> 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254260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90976" y="-332786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 </a:t>
            </a:r>
            <a:endParaRPr lang="ar-SA" sz="4400" dirty="0"/>
          </a:p>
        </p:txBody>
      </p:sp>
      <p:pic>
        <p:nvPicPr>
          <p:cNvPr id="3" name="صورة 2"/>
          <p:cNvPicPr>
            <a:picLocks noChangeAspect="1"/>
          </p:cNvPicPr>
          <p:nvPr/>
        </p:nvPicPr>
        <p:blipFill rotWithShape="1">
          <a:blip r:embed="rId2"/>
          <a:srcRect l="19972" t="15057" r="17629" b="8238"/>
          <a:stretch/>
        </p:blipFill>
        <p:spPr>
          <a:xfrm>
            <a:off x="2330611" y="824017"/>
            <a:ext cx="8309680" cy="574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50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90976" y="-332786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 </a:t>
            </a:r>
            <a:endParaRPr lang="ar-SA" sz="4400" dirty="0"/>
          </a:p>
        </p:txBody>
      </p:sp>
      <p:grpSp>
        <p:nvGrpSpPr>
          <p:cNvPr id="8" name="مجموعة 7"/>
          <p:cNvGrpSpPr/>
          <p:nvPr/>
        </p:nvGrpSpPr>
        <p:grpSpPr>
          <a:xfrm>
            <a:off x="263237" y="845127"/>
            <a:ext cx="11623964" cy="5846618"/>
            <a:chOff x="609600" y="554182"/>
            <a:chExt cx="10634663" cy="5484062"/>
          </a:xfrm>
        </p:grpSpPr>
        <p:pic>
          <p:nvPicPr>
            <p:cNvPr id="4" name="صورة 3"/>
            <p:cNvPicPr>
              <a:picLocks noChangeAspect="1"/>
            </p:cNvPicPr>
            <p:nvPr/>
          </p:nvPicPr>
          <p:blipFill rotWithShape="1">
            <a:blip r:embed="rId3"/>
            <a:srcRect l="19334" t="15057" r="17411" b="47126"/>
            <a:stretch/>
          </p:blipFill>
          <p:spPr>
            <a:xfrm>
              <a:off x="609600" y="554182"/>
              <a:ext cx="10634663" cy="3241963"/>
            </a:xfrm>
            <a:prstGeom prst="rect">
              <a:avLst/>
            </a:prstGeom>
          </p:spPr>
        </p:pic>
        <p:pic>
          <p:nvPicPr>
            <p:cNvPr id="5" name="صورة 4"/>
            <p:cNvPicPr>
              <a:picLocks noChangeAspect="1"/>
            </p:cNvPicPr>
            <p:nvPr/>
          </p:nvPicPr>
          <p:blipFill rotWithShape="1">
            <a:blip r:embed="rId3"/>
            <a:srcRect l="19333" t="54451" r="70977" b="28883"/>
            <a:stretch/>
          </p:blipFill>
          <p:spPr>
            <a:xfrm>
              <a:off x="609600" y="3796145"/>
              <a:ext cx="1649508" cy="1595128"/>
            </a:xfrm>
            <a:prstGeom prst="rect">
              <a:avLst/>
            </a:prstGeom>
          </p:spPr>
        </p:pic>
        <p:pic>
          <p:nvPicPr>
            <p:cNvPr id="6" name="صورة 5"/>
            <p:cNvPicPr>
              <a:picLocks noChangeAspect="1"/>
            </p:cNvPicPr>
            <p:nvPr/>
          </p:nvPicPr>
          <p:blipFill rotWithShape="1">
            <a:blip r:embed="rId3"/>
            <a:srcRect l="29129" t="53315" r="53195" b="19034"/>
            <a:stretch/>
          </p:blipFill>
          <p:spPr>
            <a:xfrm>
              <a:off x="2477732" y="3796145"/>
              <a:ext cx="2549236" cy="2242099"/>
            </a:xfrm>
            <a:prstGeom prst="rect">
              <a:avLst/>
            </a:prstGeom>
          </p:spPr>
        </p:pic>
        <p:sp>
          <p:nvSpPr>
            <p:cNvPr id="7" name="شكل بيضاوي 6"/>
            <p:cNvSpPr/>
            <p:nvPr/>
          </p:nvSpPr>
          <p:spPr>
            <a:xfrm>
              <a:off x="5597236" y="2729345"/>
              <a:ext cx="1316182" cy="15872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</p:spTree>
    <p:extLst>
      <p:ext uri="{BB962C8B-B14F-4D97-AF65-F5344CB8AC3E}">
        <p14:creationId xmlns:p14="http://schemas.microsoft.com/office/powerpoint/2010/main" val="2537259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0" y="0"/>
            <a:ext cx="13851498" cy="160934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Physical an chemical</a:t>
            </a:r>
            <a:r>
              <a:rPr lang="en-US" sz="3600" dirty="0" smtClean="0"/>
              <a:t> properties of matter </a:t>
            </a:r>
            <a:endParaRPr lang="ar-SA" sz="3600" dirty="0"/>
          </a:p>
        </p:txBody>
      </p:sp>
      <p:sp>
        <p:nvSpPr>
          <p:cNvPr id="3" name="مستطيل 2"/>
          <p:cNvSpPr/>
          <p:nvPr/>
        </p:nvSpPr>
        <p:spPr>
          <a:xfrm>
            <a:off x="177890" y="1286179"/>
            <a:ext cx="37593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800" b="1" dirty="0">
                <a:solidFill>
                  <a:srgbClr val="00B050"/>
                </a:solidFill>
              </a:rPr>
              <a:t>Chemical </a:t>
            </a:r>
            <a:r>
              <a:rPr lang="en-US" sz="2800" b="1" dirty="0" smtClean="0">
                <a:solidFill>
                  <a:srgbClr val="00B050"/>
                </a:solidFill>
              </a:rPr>
              <a:t>Properties </a:t>
            </a:r>
            <a:endParaRPr lang="ar-SA" sz="2800" b="1" dirty="0">
              <a:solidFill>
                <a:srgbClr val="00B050"/>
              </a:solidFill>
            </a:endParaRPr>
          </a:p>
        </p:txBody>
      </p:sp>
      <p:sp>
        <p:nvSpPr>
          <p:cNvPr id="6" name="مستطيل 5"/>
          <p:cNvSpPr/>
          <p:nvPr/>
        </p:nvSpPr>
        <p:spPr>
          <a:xfrm>
            <a:off x="639185" y="1809399"/>
            <a:ext cx="998725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800" dirty="0">
                <a:solidFill>
                  <a:srgbClr val="474747"/>
                </a:solidFill>
                <a:latin typeface="Arial" panose="020B0604020202020204" pitchFamily="34" charset="0"/>
              </a:rPr>
              <a:t>are any of the properties </a:t>
            </a:r>
            <a:r>
              <a:rPr lang="en-US" sz="2800" b="1" dirty="0">
                <a:solidFill>
                  <a:srgbClr val="767676"/>
                </a:solidFill>
                <a:latin typeface="Arial" panose="020B0604020202020204" pitchFamily="34" charset="0"/>
              </a:rPr>
              <a:t>of matter that can be observed and measured only by performing a chemical change or</a:t>
            </a:r>
            <a:r>
              <a:rPr lang="en-US" sz="2800" dirty="0">
                <a:solidFill>
                  <a:srgbClr val="474747"/>
                </a:solidFill>
                <a:latin typeface="Arial" panose="020B0604020202020204" pitchFamily="34" charset="0"/>
              </a:rPr>
              <a:t> chemical reaction</a:t>
            </a:r>
            <a:endParaRPr lang="ar-SA" sz="2800" dirty="0"/>
          </a:p>
        </p:txBody>
      </p:sp>
      <p:sp>
        <p:nvSpPr>
          <p:cNvPr id="7" name="مستطيل 6"/>
          <p:cNvSpPr/>
          <p:nvPr/>
        </p:nvSpPr>
        <p:spPr>
          <a:xfrm>
            <a:off x="2602323" y="3535279"/>
            <a:ext cx="58766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i="1" dirty="0">
                <a:solidFill>
                  <a:srgbClr val="FF0000"/>
                </a:solidFill>
              </a:rPr>
              <a:t>C</a:t>
            </a:r>
            <a:r>
              <a:rPr lang="en-US" sz="3600" i="1" dirty="0" smtClean="0">
                <a:solidFill>
                  <a:srgbClr val="FF0000"/>
                </a:solidFill>
              </a:rPr>
              <a:t>hemical </a:t>
            </a:r>
            <a:r>
              <a:rPr lang="en-US" sz="3600" i="1" dirty="0">
                <a:solidFill>
                  <a:srgbClr val="FF0000"/>
                </a:solidFill>
              </a:rPr>
              <a:t>reactions allowed!</a:t>
            </a:r>
            <a:endParaRPr lang="ar-SA" sz="3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358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0" y="0"/>
            <a:ext cx="13851498" cy="160934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Physical an chemical</a:t>
            </a:r>
            <a:r>
              <a:rPr lang="en-US" sz="3600" dirty="0" smtClean="0"/>
              <a:t> properties of matter </a:t>
            </a:r>
            <a:endParaRPr lang="ar-SA" sz="3600" dirty="0"/>
          </a:p>
        </p:txBody>
      </p:sp>
      <p:sp>
        <p:nvSpPr>
          <p:cNvPr id="3" name="مستطيل 2"/>
          <p:cNvSpPr/>
          <p:nvPr/>
        </p:nvSpPr>
        <p:spPr>
          <a:xfrm>
            <a:off x="247163" y="1409289"/>
            <a:ext cx="3246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400" b="1" dirty="0">
                <a:solidFill>
                  <a:srgbClr val="00B050"/>
                </a:solidFill>
              </a:rPr>
              <a:t>Chemical </a:t>
            </a:r>
            <a:r>
              <a:rPr lang="en-US" sz="2400" b="1" dirty="0" smtClean="0">
                <a:solidFill>
                  <a:srgbClr val="00B050"/>
                </a:solidFill>
              </a:rPr>
              <a:t>Properties </a:t>
            </a:r>
            <a:endParaRPr lang="ar-SA" sz="2400" b="1" dirty="0">
              <a:solidFill>
                <a:srgbClr val="00B050"/>
              </a:solidFill>
            </a:endParaRPr>
          </a:p>
        </p:txBody>
      </p:sp>
      <p:sp>
        <p:nvSpPr>
          <p:cNvPr id="4" name="مستطيل 3"/>
          <p:cNvSpPr/>
          <p:nvPr/>
        </p:nvSpPr>
        <p:spPr>
          <a:xfrm>
            <a:off x="247163" y="202518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2400" b="1" dirty="0">
                <a:solidFill>
                  <a:srgbClr val="FF0000"/>
                </a:solidFill>
              </a:rPr>
              <a:t>Flammability</a:t>
            </a:r>
            <a:r>
              <a:rPr lang="en-US" sz="2400" dirty="0"/>
              <a:t> </a:t>
            </a:r>
            <a:r>
              <a:rPr lang="en-US" sz="2400" dirty="0" smtClean="0"/>
              <a:t>- Material’s </a:t>
            </a:r>
            <a:r>
              <a:rPr lang="en-US" sz="2400" dirty="0"/>
              <a:t>ability to burn in the presence of oxygen </a:t>
            </a:r>
            <a:endParaRPr lang="ar-SA" sz="2400" dirty="0"/>
          </a:p>
        </p:txBody>
      </p:sp>
      <p:sp>
        <p:nvSpPr>
          <p:cNvPr id="5" name="مستطيل 4"/>
          <p:cNvSpPr/>
          <p:nvPr/>
        </p:nvSpPr>
        <p:spPr>
          <a:xfrm>
            <a:off x="247163" y="378470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2400" b="1" dirty="0">
                <a:solidFill>
                  <a:srgbClr val="FF0000"/>
                </a:solidFill>
              </a:rPr>
              <a:t>Reactivity</a:t>
            </a:r>
            <a:r>
              <a:rPr lang="en-US" sz="2400" dirty="0"/>
              <a:t> </a:t>
            </a:r>
            <a:r>
              <a:rPr lang="en-US" sz="2400" dirty="0" smtClean="0"/>
              <a:t>- How </a:t>
            </a:r>
            <a:r>
              <a:rPr lang="en-US" sz="2400" dirty="0"/>
              <a:t>readily a substance combines chemically with other substances</a:t>
            </a:r>
            <a:endParaRPr lang="ar-SA" sz="2400" dirty="0"/>
          </a:p>
        </p:txBody>
      </p:sp>
      <p:pic>
        <p:nvPicPr>
          <p:cNvPr id="7" name="صورة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301" y="1409289"/>
            <a:ext cx="2095500" cy="2095500"/>
          </a:xfrm>
          <a:prstGeom prst="rect">
            <a:avLst/>
          </a:prstGeom>
        </p:spPr>
      </p:pic>
      <p:pic>
        <p:nvPicPr>
          <p:cNvPr id="8" name="صورة 7"/>
          <p:cNvPicPr>
            <a:picLocks noChangeAspect="1"/>
          </p:cNvPicPr>
          <p:nvPr/>
        </p:nvPicPr>
        <p:blipFill rotWithShape="1">
          <a:blip r:embed="rId4"/>
          <a:srcRect l="46847" t="11413" r="5056" b="52061"/>
          <a:stretch/>
        </p:blipFill>
        <p:spPr>
          <a:xfrm>
            <a:off x="7024253" y="3812642"/>
            <a:ext cx="2264633" cy="220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37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0" y="0"/>
            <a:ext cx="13851498" cy="160934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Physical and chemical</a:t>
            </a:r>
            <a:r>
              <a:rPr lang="en-US" sz="3600" dirty="0" smtClean="0"/>
              <a:t> properties of matter </a:t>
            </a:r>
            <a:endParaRPr lang="ar-SA" sz="3600" dirty="0"/>
          </a:p>
        </p:txBody>
      </p:sp>
      <p:sp>
        <p:nvSpPr>
          <p:cNvPr id="3" name="مستطيل 2"/>
          <p:cNvSpPr/>
          <p:nvPr/>
        </p:nvSpPr>
        <p:spPr>
          <a:xfrm>
            <a:off x="720435" y="1748135"/>
            <a:ext cx="100861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200" b="1" dirty="0">
                <a:solidFill>
                  <a:srgbClr val="00B050"/>
                </a:solidFill>
              </a:rPr>
              <a:t>Physical properties </a:t>
            </a:r>
            <a:r>
              <a:rPr lang="en-US" sz="2400" dirty="0" smtClean="0">
                <a:solidFill>
                  <a:srgbClr val="373D3F"/>
                </a:solidFill>
                <a:latin typeface="Encode Sans"/>
              </a:rPr>
              <a:t>are </a:t>
            </a:r>
            <a:r>
              <a:rPr lang="en-US" sz="2400" dirty="0">
                <a:solidFill>
                  <a:srgbClr val="373D3F"/>
                </a:solidFill>
                <a:latin typeface="Encode Sans"/>
              </a:rPr>
              <a:t>properties that can be measured or observed without changing the </a:t>
            </a:r>
            <a:r>
              <a:rPr lang="en-US" sz="2400" dirty="0" smtClean="0">
                <a:solidFill>
                  <a:srgbClr val="373D3F"/>
                </a:solidFill>
                <a:latin typeface="Encode Sans"/>
              </a:rPr>
              <a:t>identity of </a:t>
            </a:r>
            <a:r>
              <a:rPr lang="en-US" sz="2400" dirty="0">
                <a:solidFill>
                  <a:srgbClr val="373D3F"/>
                </a:solidFill>
                <a:latin typeface="Encode Sans"/>
              </a:rPr>
              <a:t>the substance. </a:t>
            </a:r>
            <a:endParaRPr lang="ar-SA" sz="3200" dirty="0"/>
          </a:p>
        </p:txBody>
      </p:sp>
      <p:sp>
        <p:nvSpPr>
          <p:cNvPr id="9" name="مستطيل 8"/>
          <p:cNvSpPr/>
          <p:nvPr/>
        </p:nvSpPr>
        <p:spPr>
          <a:xfrm>
            <a:off x="1944863" y="3244334"/>
            <a:ext cx="58336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FF0000"/>
                </a:solidFill>
              </a:rPr>
              <a:t>No chemical reactions allowed!</a:t>
            </a:r>
            <a:endParaRPr lang="ar-SA" sz="32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231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0" y="0"/>
            <a:ext cx="13851498" cy="160934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Physical an chemical</a:t>
            </a:r>
            <a:r>
              <a:rPr lang="en-US" sz="3600" dirty="0" smtClean="0"/>
              <a:t> properties of matter </a:t>
            </a:r>
            <a:endParaRPr lang="ar-SA" sz="3600" dirty="0"/>
          </a:p>
        </p:txBody>
      </p:sp>
      <p:sp>
        <p:nvSpPr>
          <p:cNvPr id="4" name="مستطيل 3"/>
          <p:cNvSpPr/>
          <p:nvPr/>
        </p:nvSpPr>
        <p:spPr>
          <a:xfrm>
            <a:off x="0" y="4150647"/>
            <a:ext cx="6078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000" b="1" dirty="0" smtClean="0">
                <a:solidFill>
                  <a:srgbClr val="FF0000"/>
                </a:solidFill>
              </a:rPr>
              <a:t>2- Color</a:t>
            </a:r>
            <a:r>
              <a:rPr lang="en-US" sz="2000" dirty="0" smtClean="0"/>
              <a:t> </a:t>
            </a:r>
            <a:r>
              <a:rPr lang="en-US" sz="2000" dirty="0"/>
              <a:t>– how the object absorbs and reflects light </a:t>
            </a:r>
            <a:endParaRPr lang="ar-SA" sz="2000" dirty="0"/>
          </a:p>
        </p:txBody>
      </p:sp>
      <p:sp>
        <p:nvSpPr>
          <p:cNvPr id="6" name="مستطيل 5"/>
          <p:cNvSpPr/>
          <p:nvPr/>
        </p:nvSpPr>
        <p:spPr>
          <a:xfrm>
            <a:off x="6553200" y="1462751"/>
            <a:ext cx="5638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000" b="1" dirty="0" smtClean="0">
                <a:solidFill>
                  <a:srgbClr val="FF0000"/>
                </a:solidFill>
              </a:rPr>
              <a:t>3- Conductivity</a:t>
            </a:r>
            <a:r>
              <a:rPr lang="en-US" sz="2000" dirty="0" smtClean="0"/>
              <a:t> - Material’s </a:t>
            </a:r>
            <a:r>
              <a:rPr lang="en-US" sz="2000" dirty="0"/>
              <a:t>ability to allow heat or electricity to flow </a:t>
            </a:r>
            <a:endParaRPr lang="ar-SA" sz="2000" dirty="0"/>
          </a:p>
        </p:txBody>
      </p:sp>
      <p:sp>
        <p:nvSpPr>
          <p:cNvPr id="8" name="مستطيل 7"/>
          <p:cNvSpPr/>
          <p:nvPr/>
        </p:nvSpPr>
        <p:spPr>
          <a:xfrm>
            <a:off x="109065" y="1647599"/>
            <a:ext cx="31454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000" b="1" dirty="0" smtClean="0">
                <a:solidFill>
                  <a:srgbClr val="FF0000"/>
                </a:solidFill>
              </a:rPr>
              <a:t>1- Density</a:t>
            </a:r>
            <a:r>
              <a:rPr lang="en-US" sz="2000" dirty="0" smtClean="0"/>
              <a:t> - Mass/volume</a:t>
            </a:r>
            <a:endParaRPr lang="ar-SA" sz="2000" dirty="0"/>
          </a:p>
        </p:txBody>
      </p:sp>
      <p:sp>
        <p:nvSpPr>
          <p:cNvPr id="10" name="مستطيل 9"/>
          <p:cNvSpPr/>
          <p:nvPr/>
        </p:nvSpPr>
        <p:spPr>
          <a:xfrm>
            <a:off x="6553200" y="3633388"/>
            <a:ext cx="51062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000" b="1" dirty="0" smtClean="0">
                <a:solidFill>
                  <a:srgbClr val="FF0000"/>
                </a:solidFill>
              </a:rPr>
              <a:t>4- Malleability</a:t>
            </a:r>
            <a:r>
              <a:rPr lang="en-US" sz="2000" dirty="0" smtClean="0"/>
              <a:t> - </a:t>
            </a:r>
            <a:r>
              <a:rPr lang="en-US" sz="2000" dirty="0"/>
              <a:t>The ability of a substance to be rolled or pounded into thin sheets.</a:t>
            </a:r>
            <a:endParaRPr lang="ar-SA" sz="2000" dirty="0"/>
          </a:p>
        </p:txBody>
      </p:sp>
      <p:pic>
        <p:nvPicPr>
          <p:cNvPr id="11" name="صورة 10"/>
          <p:cNvPicPr>
            <a:picLocks noChangeAspect="1"/>
          </p:cNvPicPr>
          <p:nvPr/>
        </p:nvPicPr>
        <p:blipFill rotWithShape="1">
          <a:blip r:embed="rId3"/>
          <a:srcRect l="9596" t="20773" r="9828" b="5820"/>
          <a:stretch/>
        </p:blipFill>
        <p:spPr>
          <a:xfrm>
            <a:off x="479122" y="2192219"/>
            <a:ext cx="3425526" cy="1590072"/>
          </a:xfrm>
          <a:prstGeom prst="rect">
            <a:avLst/>
          </a:prstGeom>
        </p:spPr>
      </p:pic>
      <p:sp>
        <p:nvSpPr>
          <p:cNvPr id="12" name="مستطيل 11"/>
          <p:cNvSpPr/>
          <p:nvPr/>
        </p:nvSpPr>
        <p:spPr>
          <a:xfrm>
            <a:off x="65887" y="1062824"/>
            <a:ext cx="40783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3200" b="1" dirty="0">
                <a:solidFill>
                  <a:srgbClr val="00B050"/>
                </a:solidFill>
              </a:rPr>
              <a:t>Physical properties </a:t>
            </a:r>
            <a:endParaRPr lang="ar-SA" dirty="0"/>
          </a:p>
        </p:txBody>
      </p:sp>
      <p:pic>
        <p:nvPicPr>
          <p:cNvPr id="2050" name="Picture 2" descr="Welding Colors: What They Mean &amp; Why They Matter - YouTub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39" r="44284" b="22724"/>
          <a:stretch/>
        </p:blipFill>
        <p:spPr bwMode="auto">
          <a:xfrm>
            <a:off x="820300" y="4689097"/>
            <a:ext cx="3018940" cy="196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صورة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584" y="2170637"/>
            <a:ext cx="2091646" cy="1397916"/>
          </a:xfrm>
          <a:prstGeom prst="rect">
            <a:avLst/>
          </a:prstGeom>
        </p:spPr>
      </p:pic>
      <p:pic>
        <p:nvPicPr>
          <p:cNvPr id="14" name="صورة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8584" y="4459081"/>
            <a:ext cx="2228032" cy="224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17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0" y="0"/>
            <a:ext cx="13851498" cy="1609344"/>
          </a:xfrm>
        </p:spPr>
        <p:txBody>
          <a:bodyPr>
            <a:normAutofit/>
          </a:bodyPr>
          <a:lstStyle/>
          <a:p>
            <a:r>
              <a:rPr lang="en-US" sz="3600" dirty="0"/>
              <a:t>Intensive and Extensive of physical Properties </a:t>
            </a:r>
          </a:p>
        </p:txBody>
      </p:sp>
      <p:sp>
        <p:nvSpPr>
          <p:cNvPr id="3" name="مستطيل 2"/>
          <p:cNvSpPr/>
          <p:nvPr/>
        </p:nvSpPr>
        <p:spPr>
          <a:xfrm>
            <a:off x="180109" y="1443473"/>
            <a:ext cx="112360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>
              <a:defRPr/>
            </a:pPr>
            <a:r>
              <a:rPr lang="en-US" sz="3200" b="1" dirty="0">
                <a:ln w="11430"/>
                <a:gradFill>
                  <a:gsLst>
                    <a:gs pos="0">
                      <a:srgbClr val="ED7D31">
                        <a:tint val="70000"/>
                        <a:satMod val="245000"/>
                      </a:srgbClr>
                    </a:gs>
                    <a:gs pos="75000">
                      <a:srgbClr val="ED7D31">
                        <a:tint val="90000"/>
                        <a:shade val="60000"/>
                        <a:satMod val="240000"/>
                      </a:srgbClr>
                    </a:gs>
                    <a:gs pos="100000">
                      <a:srgbClr val="ED7D31">
                        <a:tint val="100000"/>
                        <a:shade val="50000"/>
                        <a:satMod val="240000"/>
                      </a:srgb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libri" pitchFamily="34" charset="0"/>
              </a:rPr>
              <a:t>Intensive and Extensive of </a:t>
            </a:r>
            <a:r>
              <a:rPr lang="en-US" sz="3200" b="1" dirty="0" smtClean="0">
                <a:ln w="11430"/>
                <a:gradFill>
                  <a:gsLst>
                    <a:gs pos="0">
                      <a:srgbClr val="ED7D31">
                        <a:tint val="70000"/>
                        <a:satMod val="245000"/>
                      </a:srgbClr>
                    </a:gs>
                    <a:gs pos="75000">
                      <a:srgbClr val="ED7D31">
                        <a:tint val="90000"/>
                        <a:shade val="60000"/>
                        <a:satMod val="240000"/>
                      </a:srgbClr>
                    </a:gs>
                    <a:gs pos="100000">
                      <a:srgbClr val="ED7D31">
                        <a:tint val="100000"/>
                        <a:shade val="50000"/>
                        <a:satMod val="240000"/>
                      </a:srgb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libri" pitchFamily="34" charset="0"/>
              </a:rPr>
              <a:t>physical Properties  </a:t>
            </a:r>
            <a:endParaRPr lang="en-US" sz="3200" b="1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1" name="Rectangle 9"/>
          <p:cNvSpPr/>
          <p:nvPr/>
        </p:nvSpPr>
        <p:spPr>
          <a:xfrm>
            <a:off x="6324600" y="3505200"/>
            <a:ext cx="3810000" cy="2971800"/>
          </a:xfrm>
          <a:prstGeom prst="rect">
            <a:avLst/>
          </a:prstGeom>
          <a:solidFill>
            <a:srgbClr val="4472C4"/>
          </a:solidFill>
          <a:ln w="5715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"/>
          <p:cNvSpPr/>
          <p:nvPr/>
        </p:nvSpPr>
        <p:spPr>
          <a:xfrm>
            <a:off x="1809750" y="3527425"/>
            <a:ext cx="3810000" cy="2971800"/>
          </a:xfrm>
          <a:prstGeom prst="rect">
            <a:avLst/>
          </a:prstGeom>
          <a:solidFill>
            <a:srgbClr val="4472C4"/>
          </a:solidFill>
          <a:ln w="5715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1905000" y="2819400"/>
            <a:ext cx="8458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>
              <a:defRPr/>
            </a:pPr>
            <a:r>
              <a:rPr lang="en-US" sz="3200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itchFamily="34" charset="0"/>
              </a:rPr>
              <a:t>There are two types of physical properties:</a:t>
            </a:r>
          </a:p>
        </p:txBody>
      </p:sp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1885950" y="3527426"/>
            <a:ext cx="3657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>
              <a:defRPr/>
            </a:pPr>
            <a:r>
              <a:rPr lang="en-US" sz="3600" b="1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Calibri" pitchFamily="34" charset="0"/>
              </a:rPr>
              <a:t>Extensive Properties</a:t>
            </a:r>
          </a:p>
        </p:txBody>
      </p:sp>
      <p:sp>
        <p:nvSpPr>
          <p:cNvPr id="15" name="TextBox 7"/>
          <p:cNvSpPr txBox="1">
            <a:spLocks noChangeArrowheads="1"/>
          </p:cNvSpPr>
          <p:nvPr/>
        </p:nvSpPr>
        <p:spPr bwMode="auto">
          <a:xfrm>
            <a:off x="1962150" y="4648200"/>
            <a:ext cx="35814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>
              <a:defRPr/>
            </a:pPr>
            <a:r>
              <a:rPr lang="en-US" sz="2800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itchFamily="34" charset="0"/>
              </a:rPr>
              <a:t>Extensive properties are directly related to the size/amount of a sample.</a:t>
            </a:r>
          </a:p>
        </p:txBody>
      </p:sp>
      <p:sp>
        <p:nvSpPr>
          <p:cNvPr id="16" name="TextBox 12"/>
          <p:cNvSpPr txBox="1">
            <a:spLocks noChangeArrowheads="1"/>
          </p:cNvSpPr>
          <p:nvPr/>
        </p:nvSpPr>
        <p:spPr bwMode="auto">
          <a:xfrm>
            <a:off x="6457950" y="3527426"/>
            <a:ext cx="3581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>
              <a:defRPr/>
            </a:pPr>
            <a:r>
              <a:rPr lang="en-US" sz="3600" b="1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Calibri" pitchFamily="34" charset="0"/>
              </a:rPr>
              <a:t>Intensive Properties</a:t>
            </a:r>
          </a:p>
        </p:txBody>
      </p:sp>
      <p:sp>
        <p:nvSpPr>
          <p:cNvPr id="17" name="TextBox 13"/>
          <p:cNvSpPr txBox="1">
            <a:spLocks noChangeArrowheads="1"/>
          </p:cNvSpPr>
          <p:nvPr/>
        </p:nvSpPr>
        <p:spPr bwMode="auto">
          <a:xfrm>
            <a:off x="6457950" y="4648200"/>
            <a:ext cx="35814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>
              <a:defRPr/>
            </a:pPr>
            <a:r>
              <a:rPr lang="en-US" sz="2800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itchFamily="34" charset="0"/>
              </a:rPr>
              <a:t>Intensive properties are NOT related to the size or amount of a sample.</a:t>
            </a:r>
          </a:p>
        </p:txBody>
      </p:sp>
    </p:spTree>
    <p:extLst>
      <p:ext uri="{BB962C8B-B14F-4D97-AF65-F5344CB8AC3E}">
        <p14:creationId xmlns:p14="http://schemas.microsoft.com/office/powerpoint/2010/main" val="369346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89000" y="433626"/>
            <a:ext cx="56087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solidFill>
                    <a:sysClr val="windowText" lastClr="000000"/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the </a:t>
            </a:r>
            <a:r>
              <a:rPr kumimoji="0" lang="en-US" sz="32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extensive properties!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3836" y="1177637"/>
            <a:ext cx="990600" cy="45243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1" u="none" strike="noStrike" kern="1200" cap="none" spc="0" normalizeH="0" baseline="0" noProof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1" u="none" strike="noStrike" kern="1200" cap="none" spc="0" normalizeH="0" baseline="0" noProof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1" u="none" strike="noStrike" kern="1200" cap="none" spc="0" normalizeH="0" baseline="0" noProof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1" u="none" strike="noStrike" kern="1200" cap="none" spc="0" normalizeH="0" baseline="0" noProof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1" u="none" strike="noStrike" kern="1200" cap="none" spc="0" normalizeH="0" baseline="0" noProof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1" u="none" strike="noStrike" kern="1200" cap="none" spc="0" normalizeH="0" baseline="0" noProof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4836" y="1253836"/>
            <a:ext cx="12192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4836" y="1939636"/>
            <a:ext cx="16764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olume</a:t>
            </a:r>
            <a:endParaRPr kumimoji="0" lang="en-US" sz="4000" b="1" i="0" u="none" strike="noStrike" kern="1200" cap="none" spc="0" normalizeH="0" baseline="0" noProof="0" dirty="0">
              <a:ln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4836" y="2701636"/>
            <a:ext cx="14478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ength</a:t>
            </a:r>
            <a:endParaRPr kumimoji="0" lang="en-US" sz="4000" b="1" i="0" u="none" strike="noStrike" kern="1200" cap="none" spc="0" normalizeH="0" baseline="0" noProof="0" dirty="0">
              <a:ln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7236" y="3463636"/>
            <a:ext cx="11430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oles</a:t>
            </a:r>
            <a:endParaRPr kumimoji="0" lang="en-US" sz="4000" b="1" i="0" u="none" strike="noStrike" kern="1200" cap="none" spc="0" normalizeH="0" baseline="0" noProof="0" dirty="0">
              <a:ln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34836" y="4149436"/>
            <a:ext cx="16002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nergy</a:t>
            </a:r>
            <a:endParaRPr kumimoji="0" lang="en-US" sz="4000" b="1" i="0" u="none" strike="noStrike" kern="1200" cap="none" spc="0" normalizeH="0" baseline="0" noProof="0" dirty="0">
              <a:ln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11036" y="4987637"/>
            <a:ext cx="327660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umber of particles</a:t>
            </a:r>
          </a:p>
        </p:txBody>
      </p:sp>
    </p:spTree>
    <p:extLst>
      <p:ext uri="{BB962C8B-B14F-4D97-AF65-F5344CB8AC3E}">
        <p14:creationId xmlns:p14="http://schemas.microsoft.com/office/powerpoint/2010/main" val="427167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Rectangle 13"/>
          <p:cNvSpPr/>
          <p:nvPr/>
        </p:nvSpPr>
        <p:spPr>
          <a:xfrm>
            <a:off x="1524000" y="3124200"/>
            <a:ext cx="9144000" cy="3276600"/>
          </a:xfrm>
          <a:prstGeom prst="rect">
            <a:avLst/>
          </a:prstGeom>
          <a:solidFill>
            <a:srgbClr val="4472C4"/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/>
          <p:cNvSpPr/>
          <p:nvPr/>
        </p:nvSpPr>
        <p:spPr>
          <a:xfrm>
            <a:off x="1371600" y="457200"/>
            <a:ext cx="9448800" cy="2286000"/>
          </a:xfrm>
          <a:prstGeom prst="rect">
            <a:avLst/>
          </a:prstGeom>
          <a:solidFill>
            <a:srgbClr val="4472C4"/>
          </a:solidFill>
          <a:ln w="762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1905000" y="533401"/>
            <a:ext cx="8458200" cy="206210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>
              <a:defRPr/>
            </a:pPr>
            <a:r>
              <a:rPr lang="en-US" sz="3200" b="1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Calibri" panose="020F0502020204030204"/>
              </a:rPr>
              <a:t>There are MANY </a:t>
            </a:r>
            <a:r>
              <a:rPr lang="en-US" sz="3200" b="1" i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Calibri" panose="020F0502020204030204"/>
              </a:rPr>
              <a:t>intensive</a:t>
            </a:r>
            <a:r>
              <a:rPr lang="en-US" sz="3200" b="1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Calibri" panose="020F0502020204030204"/>
              </a:rPr>
              <a:t> properties that are NOT related to the size of a sample.  Because this list is much larger, you should focus on remembering the shorter extensive list.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2362200" y="5715001"/>
            <a:ext cx="175260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>
              <a:defRPr/>
            </a:pPr>
            <a:r>
              <a:rPr lang="en-US" sz="3200" b="1" dirty="0" smtClean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Calibri" panose="020F0502020204030204"/>
              </a:rPr>
              <a:t>1- Color</a:t>
            </a:r>
            <a:endParaRPr lang="en-US" sz="3200" b="1" dirty="0">
              <a:ln>
                <a:solidFill>
                  <a:sysClr val="windowText" lastClr="000000"/>
                </a:solidFill>
              </a:ln>
              <a:solidFill>
                <a:srgbClr val="FFFF00"/>
              </a:solidFill>
              <a:latin typeface="Calibri" panose="020F0502020204030204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lum bright="-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49"/>
          <a:stretch>
            <a:fillRect/>
          </a:stretch>
        </p:blipFill>
        <p:spPr bwMode="auto">
          <a:xfrm>
            <a:off x="1905001" y="3276600"/>
            <a:ext cx="269081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4800600" y="3276600"/>
            <a:ext cx="3276600" cy="2438400"/>
            <a:chOff x="2895600" y="3276600"/>
            <a:chExt cx="3276600" cy="2438400"/>
          </a:xfrm>
        </p:grpSpPr>
        <p:sp>
          <p:nvSpPr>
            <p:cNvPr id="9" name="Rectangle 8"/>
            <p:cNvSpPr/>
            <p:nvPr/>
          </p:nvSpPr>
          <p:spPr>
            <a:xfrm>
              <a:off x="2895600" y="3276600"/>
              <a:ext cx="3276600" cy="2438400"/>
            </a:xfrm>
            <a:prstGeom prst="rect">
              <a:avLst/>
            </a:prstGeom>
            <a:solidFill>
              <a:srgbClr val="E7E6E6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76" t="35333" r="12814" b="30000"/>
            <a:stretch>
              <a:fillRect/>
            </a:stretch>
          </p:blipFill>
          <p:spPr bwMode="auto">
            <a:xfrm>
              <a:off x="4617156" y="4648200"/>
              <a:ext cx="1555044" cy="106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3276600"/>
              <a:ext cx="1447800" cy="108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1400" y="3886200"/>
              <a:ext cx="1750639" cy="1168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TextBox 10"/>
          <p:cNvSpPr txBox="1"/>
          <p:nvPr/>
        </p:nvSpPr>
        <p:spPr>
          <a:xfrm>
            <a:off x="4800600" y="5715001"/>
            <a:ext cx="327660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>
              <a:defRPr/>
            </a:pPr>
            <a:r>
              <a:rPr lang="en-US" sz="3200" b="1" dirty="0" smtClean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Calibri" panose="020F0502020204030204"/>
              </a:rPr>
              <a:t>2- State </a:t>
            </a:r>
            <a:r>
              <a:rPr lang="en-US" sz="3200" b="1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Calibri" panose="020F0502020204030204"/>
              </a:rPr>
              <a:t>of Matter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3276601"/>
            <a:ext cx="1600200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2"/>
          <p:cNvSpPr txBox="1"/>
          <p:nvPr/>
        </p:nvSpPr>
        <p:spPr>
          <a:xfrm>
            <a:off x="8534399" y="5715001"/>
            <a:ext cx="19673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/>
            </a:pPr>
            <a:r>
              <a:rPr lang="en-US" sz="3200" b="1" dirty="0" smtClean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Calibri" panose="020F0502020204030204"/>
              </a:rPr>
              <a:t>3-Density</a:t>
            </a:r>
            <a:endParaRPr lang="en-US" sz="3200" b="1" dirty="0">
              <a:ln>
                <a:solidFill>
                  <a:sysClr val="windowText" lastClr="000000"/>
                </a:solidFill>
              </a:ln>
              <a:solidFill>
                <a:srgbClr val="FFFF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1477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572000" y="1600201"/>
            <a:ext cx="3124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color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605337" y="2362200"/>
            <a:ext cx="31242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melting  point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29137" y="2754314"/>
            <a:ext cx="312420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mass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572001" y="3136900"/>
            <a:ext cx="308133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boiling  point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29137" y="3581400"/>
            <a:ext cx="31242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volume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605337" y="3975100"/>
            <a:ext cx="30480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density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605337" y="4430714"/>
            <a:ext cx="304800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length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605337" y="4873625"/>
            <a:ext cx="30480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specific heat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605337" y="5334000"/>
            <a:ext cx="30480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temperature</a:t>
            </a:r>
          </a:p>
        </p:txBody>
      </p:sp>
      <p:sp>
        <p:nvSpPr>
          <p:cNvPr id="4107" name="TextBox 14"/>
          <p:cNvSpPr txBox="1">
            <a:spLocks noChangeArrowheads="1"/>
          </p:cNvSpPr>
          <p:nvPr/>
        </p:nvSpPr>
        <p:spPr bwMode="auto">
          <a:xfrm>
            <a:off x="2514600" y="152400"/>
            <a:ext cx="72390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Decide if the following physical properties are intensive or extensive: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6763" y="1609726"/>
            <a:ext cx="3048000" cy="50958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9" name="Rectangle 17"/>
          <p:cNvSpPr>
            <a:spLocks noChangeArrowheads="1"/>
          </p:cNvSpPr>
          <p:nvPr/>
        </p:nvSpPr>
        <p:spPr bwMode="auto">
          <a:xfrm>
            <a:off x="969818" y="914401"/>
            <a:ext cx="3678382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Intensive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(NOT related to size)</a:t>
            </a:r>
          </a:p>
        </p:txBody>
      </p:sp>
      <p:sp>
        <p:nvSpPr>
          <p:cNvPr id="4110" name="Rectangle 18"/>
          <p:cNvSpPr>
            <a:spLocks noChangeArrowheads="1"/>
          </p:cNvSpPr>
          <p:nvPr/>
        </p:nvSpPr>
        <p:spPr bwMode="auto">
          <a:xfrm>
            <a:off x="7543800" y="914401"/>
            <a:ext cx="31242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Extensive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(Related to size)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605337" y="1981201"/>
            <a:ext cx="3124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odor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600575" y="5781675"/>
            <a:ext cx="30480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energy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4572000" y="6172200"/>
            <a:ext cx="30480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state of matter</a:t>
            </a:r>
          </a:p>
        </p:txBody>
      </p:sp>
    </p:spTree>
    <p:extLst>
      <p:ext uri="{BB962C8B-B14F-4D97-AF65-F5344CB8AC3E}">
        <p14:creationId xmlns:p14="http://schemas.microsoft.com/office/powerpoint/2010/main" val="160019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-0.33333 7.40741E-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-0.33333 -3.7037E-7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-0.33333 4.07407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.33333 -2.59259E-6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-0.33333 7.40741E-7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.33333 4.07407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-0.33333 -1.48148E-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.33333 2.96296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-0.33333 -3.7037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-0.33333 -3.7037E-7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.33333 -2.59259E-6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-0.33333 -3.7037E-7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0" y="0"/>
            <a:ext cx="13851498" cy="1609344"/>
          </a:xfrm>
        </p:spPr>
        <p:txBody>
          <a:bodyPr>
            <a:normAutofit/>
          </a:bodyPr>
          <a:lstStyle/>
          <a:p>
            <a:r>
              <a:rPr lang="en-US" sz="3600" dirty="0"/>
              <a:t>Physical </a:t>
            </a:r>
            <a:r>
              <a:rPr lang="en-US" sz="3600" dirty="0" smtClean="0"/>
              <a:t>and Chemical Change </a:t>
            </a:r>
            <a:endParaRPr lang="en-US" sz="3600" dirty="0"/>
          </a:p>
        </p:txBody>
      </p:sp>
      <p:sp>
        <p:nvSpPr>
          <p:cNvPr id="7" name="مستطيل 6"/>
          <p:cNvSpPr/>
          <p:nvPr/>
        </p:nvSpPr>
        <p:spPr>
          <a:xfrm>
            <a:off x="568036" y="1701677"/>
            <a:ext cx="698269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000" dirty="0"/>
              <a:t>Physical Changes </a:t>
            </a:r>
            <a:r>
              <a:rPr lang="en-US" sz="2000" dirty="0" smtClean="0"/>
              <a:t>- a </a:t>
            </a:r>
            <a:r>
              <a:rPr lang="en-US" sz="2000" dirty="0"/>
              <a:t>change that occurs </a:t>
            </a:r>
            <a:r>
              <a:rPr lang="en-US" sz="2000" u="sng" dirty="0" smtClean="0">
                <a:solidFill>
                  <a:srgbClr val="00B0F0"/>
                </a:solidFill>
              </a:rPr>
              <a:t>without</a:t>
            </a:r>
            <a:r>
              <a:rPr lang="en-US" sz="2000" dirty="0" smtClean="0"/>
              <a:t> </a:t>
            </a:r>
            <a:r>
              <a:rPr lang="en-US" sz="2000" dirty="0"/>
              <a:t>changing </a:t>
            </a:r>
            <a:r>
              <a:rPr lang="en-US" sz="2000" dirty="0" smtClean="0"/>
              <a:t>the </a:t>
            </a:r>
            <a:r>
              <a:rPr lang="en-US" sz="2000" u="sng" dirty="0" smtClean="0">
                <a:solidFill>
                  <a:srgbClr val="00B0F0"/>
                </a:solidFill>
              </a:rPr>
              <a:t>identity</a:t>
            </a:r>
            <a:r>
              <a:rPr lang="en-US" sz="2000" dirty="0" smtClean="0"/>
              <a:t> </a:t>
            </a:r>
            <a:r>
              <a:rPr lang="en-US" sz="2000" dirty="0"/>
              <a:t>of the substance. </a:t>
            </a:r>
            <a:endParaRPr lang="en-US" sz="2000" dirty="0" smtClean="0"/>
          </a:p>
          <a:p>
            <a:pPr algn="l" rtl="0"/>
            <a:endParaRPr lang="en-US" sz="2000" dirty="0" smtClean="0"/>
          </a:p>
          <a:p>
            <a:pPr algn="l" rtl="0"/>
            <a:r>
              <a:rPr lang="en-US" sz="2000" b="1" dirty="0" smtClean="0">
                <a:solidFill>
                  <a:srgbClr val="00B0F0"/>
                </a:solidFill>
              </a:rPr>
              <a:t>NO</a:t>
            </a:r>
            <a:r>
              <a:rPr lang="en-US" sz="2000" dirty="0" smtClean="0"/>
              <a:t> </a:t>
            </a:r>
            <a:r>
              <a:rPr lang="en-US" sz="2000" dirty="0"/>
              <a:t>new substances are formed</a:t>
            </a:r>
            <a:r>
              <a:rPr lang="en-US" sz="2000" dirty="0" smtClean="0"/>
              <a:t>.</a:t>
            </a:r>
          </a:p>
          <a:p>
            <a:pPr algn="l" rtl="0"/>
            <a:endParaRPr lang="ar-SA" sz="2000" dirty="0"/>
          </a:p>
        </p:txBody>
      </p:sp>
      <p:sp>
        <p:nvSpPr>
          <p:cNvPr id="8" name="مستطيل 7"/>
          <p:cNvSpPr/>
          <p:nvPr/>
        </p:nvSpPr>
        <p:spPr>
          <a:xfrm>
            <a:off x="466774" y="1240012"/>
            <a:ext cx="26516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400" dirty="0">
                <a:solidFill>
                  <a:srgbClr val="00B050"/>
                </a:solidFill>
              </a:rPr>
              <a:t>Physical Changes</a:t>
            </a:r>
            <a:endParaRPr lang="ar-SA" sz="2400" dirty="0">
              <a:solidFill>
                <a:srgbClr val="00B050"/>
              </a:solidFill>
            </a:endParaRPr>
          </a:p>
        </p:txBody>
      </p:sp>
      <p:sp>
        <p:nvSpPr>
          <p:cNvPr id="9" name="مستطيل 8"/>
          <p:cNvSpPr/>
          <p:nvPr/>
        </p:nvSpPr>
        <p:spPr>
          <a:xfrm>
            <a:off x="621930" y="4054577"/>
            <a:ext cx="7399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000" dirty="0"/>
              <a:t>Chemical </a:t>
            </a:r>
            <a:r>
              <a:rPr lang="en-US" sz="2000" dirty="0" smtClean="0"/>
              <a:t>Changes - a </a:t>
            </a:r>
            <a:r>
              <a:rPr lang="en-US" sz="2000" dirty="0"/>
              <a:t>change that occurs that </a:t>
            </a:r>
            <a:r>
              <a:rPr lang="en-US" sz="2000" b="1" dirty="0" smtClean="0">
                <a:solidFill>
                  <a:srgbClr val="00B0F0"/>
                </a:solidFill>
              </a:rPr>
              <a:t>causes</a:t>
            </a:r>
            <a:r>
              <a:rPr lang="en-US" sz="2000" dirty="0" smtClean="0"/>
              <a:t> the </a:t>
            </a:r>
            <a:r>
              <a:rPr lang="en-US" sz="2000" b="1" dirty="0" smtClean="0">
                <a:solidFill>
                  <a:srgbClr val="00B0F0"/>
                </a:solidFill>
              </a:rPr>
              <a:t>identity</a:t>
            </a:r>
            <a:r>
              <a:rPr lang="en-US" sz="2000" dirty="0" smtClean="0"/>
              <a:t>  </a:t>
            </a:r>
            <a:r>
              <a:rPr lang="en-US" sz="2000" dirty="0"/>
              <a:t>of a substance to change; something </a:t>
            </a:r>
            <a:r>
              <a:rPr lang="en-US" sz="2000" b="1" dirty="0" smtClean="0">
                <a:solidFill>
                  <a:srgbClr val="00B0F0"/>
                </a:solidFill>
              </a:rPr>
              <a:t>New</a:t>
            </a:r>
            <a:r>
              <a:rPr lang="en-US" sz="2000" dirty="0" smtClean="0"/>
              <a:t> is </a:t>
            </a:r>
            <a:r>
              <a:rPr lang="en-US" sz="2000" dirty="0"/>
              <a:t>formed</a:t>
            </a:r>
            <a:r>
              <a:rPr lang="en-US" sz="2000" dirty="0" smtClean="0"/>
              <a:t>.</a:t>
            </a:r>
          </a:p>
          <a:p>
            <a:pPr algn="l" rtl="0"/>
            <a:endParaRPr lang="en-US" sz="2000" dirty="0" smtClean="0"/>
          </a:p>
          <a:p>
            <a:pPr algn="l" rtl="0"/>
            <a:r>
              <a:rPr lang="en-US" sz="2000" dirty="0" smtClean="0"/>
              <a:t>New </a:t>
            </a:r>
            <a:r>
              <a:rPr lang="en-US" sz="2000" dirty="0"/>
              <a:t>substances </a:t>
            </a:r>
            <a:r>
              <a:rPr lang="en-US" sz="2000" dirty="0" smtClean="0"/>
              <a:t>with new </a:t>
            </a:r>
            <a:r>
              <a:rPr lang="en-US" sz="2000" b="1" dirty="0" smtClean="0">
                <a:solidFill>
                  <a:srgbClr val="00B0F0"/>
                </a:solidFill>
              </a:rPr>
              <a:t>properties</a:t>
            </a:r>
            <a:r>
              <a:rPr lang="en-US" sz="2000" dirty="0" smtClean="0"/>
              <a:t> </a:t>
            </a:r>
            <a:r>
              <a:rPr lang="en-US" sz="2000" dirty="0"/>
              <a:t>are formed </a:t>
            </a:r>
            <a:endParaRPr lang="ar-SA" sz="2000" dirty="0"/>
          </a:p>
        </p:txBody>
      </p:sp>
      <p:sp>
        <p:nvSpPr>
          <p:cNvPr id="10" name="مستطيل 9"/>
          <p:cNvSpPr/>
          <p:nvPr/>
        </p:nvSpPr>
        <p:spPr>
          <a:xfrm>
            <a:off x="397845" y="3410588"/>
            <a:ext cx="2789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400" dirty="0">
                <a:solidFill>
                  <a:srgbClr val="00B050"/>
                </a:solidFill>
              </a:rPr>
              <a:t>Chemical Changes</a:t>
            </a:r>
            <a:endParaRPr lang="ar-SA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957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جدول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050412"/>
              </p:ext>
            </p:extLst>
          </p:nvPr>
        </p:nvGraphicFramePr>
        <p:xfrm>
          <a:off x="332510" y="900540"/>
          <a:ext cx="10987520" cy="5860480"/>
        </p:xfrm>
        <a:graphic>
          <a:graphicData uri="http://schemas.openxmlformats.org/drawingml/2006/table">
            <a:tbl>
              <a:tblPr/>
              <a:tblGrid>
                <a:gridCol w="5494193">
                  <a:extLst>
                    <a:ext uri="{9D8B030D-6E8A-4147-A177-3AD203B41FA5}">
                      <a16:colId xmlns:a16="http://schemas.microsoft.com/office/drawing/2014/main" val="1380195470"/>
                    </a:ext>
                  </a:extLst>
                </a:gridCol>
                <a:gridCol w="5493327">
                  <a:extLst>
                    <a:ext uri="{9D8B030D-6E8A-4147-A177-3AD203B41FA5}">
                      <a16:colId xmlns:a16="http://schemas.microsoft.com/office/drawing/2014/main" val="450345792"/>
                    </a:ext>
                  </a:extLst>
                </a:gridCol>
              </a:tblGrid>
              <a:tr h="454536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1">
                          <a:effectLst/>
                        </a:rPr>
                        <a:t>Physical Change</a:t>
                      </a:r>
                      <a:endParaRPr lang="en-US" sz="180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1" dirty="0">
                          <a:effectLst/>
                        </a:rPr>
                        <a:t>Chemical Change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118352"/>
                  </a:ext>
                </a:extLst>
              </a:tr>
              <a:tr h="709285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1" dirty="0" smtClean="0">
                          <a:effectLst/>
                        </a:rPr>
                        <a:t>Th</a:t>
                      </a:r>
                      <a:r>
                        <a:rPr lang="en-US" sz="1800" b="1" baseline="0" dirty="0" smtClean="0">
                          <a:effectLst/>
                        </a:rPr>
                        <a:t>e </a:t>
                      </a:r>
                      <a:r>
                        <a:rPr lang="en-US" sz="1800" b="1" dirty="0" smtClean="0">
                          <a:effectLst/>
                        </a:rPr>
                        <a:t>composition </a:t>
                      </a:r>
                      <a:r>
                        <a:rPr lang="en-US" sz="1800" b="1" dirty="0">
                          <a:effectLst/>
                        </a:rPr>
                        <a:t>remains the </a:t>
                      </a:r>
                      <a:r>
                        <a:rPr lang="en-US" sz="1800" b="1" dirty="0" smtClean="0">
                          <a:effectLst/>
                        </a:rPr>
                        <a:t>same</a:t>
                      </a:r>
                      <a:r>
                        <a:rPr lang="en-US" sz="1800" dirty="0" smtClean="0">
                          <a:effectLst/>
                        </a:rPr>
                        <a:t>.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 dirty="0" smtClean="0">
                          <a:effectLst/>
                        </a:rPr>
                        <a:t>Involve </a:t>
                      </a:r>
                      <a:r>
                        <a:rPr lang="en-US" sz="1800" b="0" dirty="0">
                          <a:effectLst/>
                        </a:rPr>
                        <a:t>the </a:t>
                      </a:r>
                      <a:r>
                        <a:rPr lang="en-US" sz="1800" b="1" dirty="0">
                          <a:effectLst/>
                        </a:rPr>
                        <a:t>formation of new substances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511139"/>
                  </a:ext>
                </a:extLst>
              </a:tr>
              <a:tr h="454536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 dirty="0">
                          <a:effectLst/>
                        </a:rPr>
                        <a:t>Physical change is a </a:t>
                      </a:r>
                      <a:r>
                        <a:rPr lang="en-US" sz="1800" b="1" dirty="0">
                          <a:effectLst/>
                        </a:rPr>
                        <a:t>temporary</a:t>
                      </a:r>
                      <a:r>
                        <a:rPr lang="en-US" sz="1800" b="0" dirty="0">
                          <a:effectLst/>
                        </a:rPr>
                        <a:t> change.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 dirty="0" smtClean="0">
                          <a:effectLst/>
                        </a:rPr>
                        <a:t>Chemical </a:t>
                      </a:r>
                      <a:r>
                        <a:rPr lang="en-US" sz="1800" b="0" dirty="0">
                          <a:effectLst/>
                        </a:rPr>
                        <a:t>change is a </a:t>
                      </a:r>
                      <a:r>
                        <a:rPr lang="en-US" sz="1800" b="1" dirty="0">
                          <a:effectLst/>
                        </a:rPr>
                        <a:t>permanent</a:t>
                      </a:r>
                      <a:r>
                        <a:rPr lang="en-US" sz="1800" b="0" dirty="0">
                          <a:effectLst/>
                        </a:rPr>
                        <a:t> change.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087144"/>
                  </a:ext>
                </a:extLst>
              </a:tr>
              <a:tr h="801094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>
                          <a:effectLst/>
                        </a:rPr>
                        <a:t>A Physical change affects only physical properties i.e. shape, size, etc.</a:t>
                      </a:r>
                      <a:endParaRPr lang="en-US" sz="180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 dirty="0">
                          <a:effectLst/>
                        </a:rPr>
                        <a:t>Chemical change both physical and chemical properties of the substance including its composition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038273"/>
                  </a:ext>
                </a:extLst>
              </a:tr>
              <a:tr h="801094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 dirty="0">
                          <a:effectLst/>
                        </a:rPr>
                        <a:t>Some examples of physical change are freezing </a:t>
                      </a:r>
                      <a:r>
                        <a:rPr lang="en-US" sz="1800" b="0" dirty="0" smtClean="0">
                          <a:effectLst/>
                        </a:rPr>
                        <a:t>r</a:t>
                      </a:r>
                      <a:r>
                        <a:rPr lang="en-US" sz="1800" b="0" dirty="0">
                          <a:effectLst/>
                        </a:rPr>
                        <a:t>, </a:t>
                      </a:r>
                      <a:r>
                        <a:rPr lang="en-US" sz="1800" b="0" dirty="0" smtClean="0">
                          <a:effectLst/>
                        </a:rPr>
                        <a:t>melting, boiling, </a:t>
                      </a:r>
                      <a:r>
                        <a:rPr lang="en-US" sz="1800" b="0" dirty="0">
                          <a:effectLst/>
                        </a:rPr>
                        <a:t>etc.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 dirty="0">
                          <a:effectLst/>
                        </a:rPr>
                        <a:t>A few examples of chemical change are </a:t>
                      </a:r>
                      <a:r>
                        <a:rPr lang="en-US" sz="1800" b="0" dirty="0" smtClean="0">
                          <a:effectLst/>
                        </a:rPr>
                        <a:t>Flammability and Reactivity, </a:t>
                      </a:r>
                      <a:r>
                        <a:rPr lang="en-US" sz="1800" b="0" dirty="0">
                          <a:effectLst/>
                        </a:rPr>
                        <a:t>etc.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650284"/>
                  </a:ext>
                </a:extLst>
              </a:tr>
              <a:tr h="103774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>
                          <a:effectLst/>
                        </a:rPr>
                        <a:t>Generally, physical changes do not involve the production of energy.</a:t>
                      </a:r>
                      <a:endParaRPr lang="en-US" sz="180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 dirty="0">
                          <a:effectLst/>
                        </a:rPr>
                        <a:t>Chemical changes usually involve the production of energy (which can be in the form of heat, light, sound, etc.)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241032"/>
                  </a:ext>
                </a:extLst>
              </a:tr>
              <a:tr h="801094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>
                          <a:effectLst/>
                        </a:rPr>
                        <a:t>In a physical change, no new substance is formed.</a:t>
                      </a:r>
                      <a:endParaRPr lang="en-US" sz="180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 dirty="0">
                          <a:effectLst/>
                        </a:rPr>
                        <a:t>A chemical change is always accompanied by one or more new substance(s).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938007"/>
                  </a:ext>
                </a:extLst>
              </a:tr>
              <a:tr h="801094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 dirty="0">
                          <a:effectLst/>
                        </a:rPr>
                        <a:t>Physical change is easily reversible </a:t>
                      </a:r>
                      <a:r>
                        <a:rPr lang="en-US" sz="1800" b="0" dirty="0" err="1">
                          <a:effectLst/>
                        </a:rPr>
                        <a:t>i.e</a:t>
                      </a:r>
                      <a:r>
                        <a:rPr lang="en-US" sz="1800" b="0" dirty="0">
                          <a:effectLst/>
                        </a:rPr>
                        <a:t> original substance can be recovered.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800" b="0" dirty="0">
                          <a:effectLst/>
                        </a:rPr>
                        <a:t>Chemical changes are irreversible i.e. original substance cannot be recovered.</a:t>
                      </a:r>
                      <a:endParaRPr lang="en-US" sz="1800" dirty="0">
                        <a:effectLst/>
                      </a:endParaRPr>
                    </a:p>
                  </a:txBody>
                  <a:tcPr marL="28490" marR="28490" marT="42735" marB="427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540095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0975" y="0"/>
            <a:ext cx="9849716" cy="9787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179331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ar-SA" altLang="ar-SA" sz="2800" b="1" i="0" u="none" strike="noStrike" cap="none" normalizeH="0" baseline="0" dirty="0" err="1" smtClean="0">
                <a:ln>
                  <a:noFill/>
                </a:ln>
                <a:solidFill>
                  <a:srgbClr val="444444"/>
                </a:solidFill>
                <a:effectLst/>
                <a:latin typeface="Poppins"/>
              </a:rPr>
              <a:t>Differences</a:t>
            </a:r>
            <a:r>
              <a:rPr lang="ar-SA" altLang="ar-SA" sz="2800" b="1" dirty="0">
                <a:solidFill>
                  <a:srgbClr val="444444"/>
                </a:solidFill>
                <a:latin typeface="Poppins"/>
              </a:rPr>
              <a:t> </a:t>
            </a:r>
            <a:r>
              <a:rPr kumimoji="0" lang="ar-SA" altLang="ar-SA" sz="2800" b="1" i="0" u="none" strike="noStrike" cap="none" normalizeH="0" baseline="0" dirty="0" err="1" smtClean="0">
                <a:ln>
                  <a:noFill/>
                </a:ln>
                <a:solidFill>
                  <a:srgbClr val="444444"/>
                </a:solidFill>
                <a:effectLst/>
                <a:latin typeface="Poppins"/>
              </a:rPr>
              <a:t>Between</a:t>
            </a:r>
            <a:r>
              <a:rPr kumimoji="0" lang="ar-SA" altLang="ar-SA" sz="28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Poppins"/>
              </a:rPr>
              <a:t> </a:t>
            </a:r>
            <a:r>
              <a:rPr kumimoji="0" lang="ar-SA" altLang="ar-SA" sz="2800" b="1" i="0" u="none" strike="noStrike" cap="none" normalizeH="0" baseline="0" dirty="0" err="1" smtClean="0">
                <a:ln>
                  <a:noFill/>
                </a:ln>
                <a:solidFill>
                  <a:srgbClr val="444444"/>
                </a:solidFill>
                <a:effectLst/>
                <a:latin typeface="Poppins"/>
              </a:rPr>
              <a:t>Physical</a:t>
            </a:r>
            <a:r>
              <a:rPr kumimoji="0" lang="ar-SA" altLang="ar-SA" sz="28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Poppins"/>
              </a:rPr>
              <a:t> </a:t>
            </a:r>
            <a:r>
              <a:rPr kumimoji="0" lang="ar-SA" altLang="ar-SA" sz="2800" b="1" i="0" u="none" strike="noStrike" cap="none" normalizeH="0" baseline="0" dirty="0" err="1" smtClean="0">
                <a:ln>
                  <a:noFill/>
                </a:ln>
                <a:solidFill>
                  <a:srgbClr val="444444"/>
                </a:solidFill>
                <a:effectLst/>
                <a:latin typeface="Poppins"/>
              </a:rPr>
              <a:t>and</a:t>
            </a:r>
            <a:r>
              <a:rPr kumimoji="0" lang="ar-SA" altLang="ar-SA" sz="28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Poppins"/>
              </a:rPr>
              <a:t> </a:t>
            </a:r>
            <a:r>
              <a:rPr kumimoji="0" lang="ar-SA" altLang="ar-SA" sz="2800" b="1" i="0" u="none" strike="noStrike" cap="none" normalizeH="0" baseline="0" dirty="0" err="1" smtClean="0">
                <a:ln>
                  <a:noFill/>
                </a:ln>
                <a:solidFill>
                  <a:srgbClr val="444444"/>
                </a:solidFill>
                <a:effectLst/>
                <a:latin typeface="Poppins"/>
              </a:rPr>
              <a:t>Chemical</a:t>
            </a:r>
            <a:r>
              <a:rPr kumimoji="0" lang="ar-SA" altLang="ar-SA" sz="28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Poppins"/>
              </a:rPr>
              <a:t> </a:t>
            </a:r>
            <a:r>
              <a:rPr kumimoji="0" lang="ar-SA" altLang="ar-SA" sz="2800" b="1" i="0" u="none" strike="noStrike" cap="none" normalizeH="0" baseline="0" dirty="0" err="1" smtClean="0">
                <a:ln>
                  <a:noFill/>
                </a:ln>
                <a:solidFill>
                  <a:srgbClr val="444444"/>
                </a:solidFill>
                <a:effectLst/>
                <a:latin typeface="Poppins"/>
              </a:rPr>
              <a:t>Change</a:t>
            </a:r>
            <a:endParaRPr kumimoji="0" lang="ar-SA" altLang="ar-SA" sz="2800" b="1" i="0" u="none" strike="noStrike" cap="none" normalizeH="0" baseline="0" dirty="0" smtClean="0">
              <a:ln>
                <a:noFill/>
              </a:ln>
              <a:solidFill>
                <a:srgbClr val="444444"/>
              </a:solidFill>
              <a:effectLst/>
              <a:latin typeface="Poppins"/>
            </a:endParaRP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altLang="ar-S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3299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نوع الخشب">
  <a:themeElements>
    <a:clrScheme name="نوع الخشب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نوع الخشب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نوع الخشب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نوع الخشب</Template>
  <TotalTime>7165</TotalTime>
  <Words>811</Words>
  <Application>Microsoft Office PowerPoint</Application>
  <PresentationFormat>شاشة عريضة</PresentationFormat>
  <Paragraphs>146</Paragraphs>
  <Slides>22</Slides>
  <Notes>13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9</vt:i4>
      </vt:variant>
      <vt:variant>
        <vt:lpstr>نسق</vt:lpstr>
      </vt:variant>
      <vt:variant>
        <vt:i4>3</vt:i4>
      </vt:variant>
      <vt:variant>
        <vt:lpstr>عناوين الشرائح</vt:lpstr>
      </vt:variant>
      <vt:variant>
        <vt:i4>22</vt:i4>
      </vt:variant>
    </vt:vector>
  </HeadingPairs>
  <TitlesOfParts>
    <vt:vector size="34" baseType="lpstr">
      <vt:lpstr>Arial</vt:lpstr>
      <vt:lpstr>Arial Black</vt:lpstr>
      <vt:lpstr>Calibri</vt:lpstr>
      <vt:lpstr>Calibri Light</vt:lpstr>
      <vt:lpstr>Encode Sans</vt:lpstr>
      <vt:lpstr>Poppins</vt:lpstr>
      <vt:lpstr>Tahoma</vt:lpstr>
      <vt:lpstr>Times New Roman</vt:lpstr>
      <vt:lpstr>Wingdings</vt:lpstr>
      <vt:lpstr>نوع الخشب</vt:lpstr>
      <vt:lpstr>Office Theme</vt:lpstr>
      <vt:lpstr>1_Office Theme</vt:lpstr>
      <vt:lpstr>Introduction</vt:lpstr>
      <vt:lpstr>What is Chemistry? </vt:lpstr>
      <vt:lpstr>Matter</vt:lpstr>
      <vt:lpstr>Matter</vt:lpstr>
      <vt:lpstr>عرض تقديمي في PowerPoint</vt:lpstr>
      <vt:lpstr>What are pure substances?</vt:lpstr>
      <vt:lpstr>How can pure substance  be classified?</vt:lpstr>
      <vt:lpstr>How can pure substance  be classified?</vt:lpstr>
      <vt:lpstr>What are mixtures?</vt:lpstr>
      <vt:lpstr>How can mixtures be classified?</vt:lpstr>
      <vt:lpstr>Summary </vt:lpstr>
      <vt:lpstr>Summary </vt:lpstr>
      <vt:lpstr>Physical an chemical properties of matter </vt:lpstr>
      <vt:lpstr>Physical an chemical properties of matter </vt:lpstr>
      <vt:lpstr>Physical and chemical properties of matter </vt:lpstr>
      <vt:lpstr>Physical an chemical properties of matter </vt:lpstr>
      <vt:lpstr>Intensive and Extensive of physical Properties </vt:lpstr>
      <vt:lpstr>عرض تقديمي في PowerPoint</vt:lpstr>
      <vt:lpstr>عرض تقديمي في PowerPoint</vt:lpstr>
      <vt:lpstr>عرض تقديمي في PowerPoint</vt:lpstr>
      <vt:lpstr>Physical and Chemical Change 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Khadijah  Fal</dc:creator>
  <cp:lastModifiedBy>Khadijah  Fal</cp:lastModifiedBy>
  <cp:revision>80</cp:revision>
  <dcterms:created xsi:type="dcterms:W3CDTF">2024-01-16T10:33:27Z</dcterms:created>
  <dcterms:modified xsi:type="dcterms:W3CDTF">2025-01-15T05:39:46Z</dcterms:modified>
</cp:coreProperties>
</file>