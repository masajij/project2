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911" r:id="rId1"/>
    <p:sldMasterId id="2147483923" r:id="rId2"/>
    <p:sldMasterId id="2147483937" r:id="rId3"/>
  </p:sldMasterIdLst>
  <p:sldIdLst>
    <p:sldId id="256" r:id="rId4"/>
    <p:sldId id="257" r:id="rId5"/>
    <p:sldId id="279" r:id="rId6"/>
    <p:sldId id="264" r:id="rId7"/>
    <p:sldId id="265" r:id="rId8"/>
    <p:sldId id="280" r:id="rId9"/>
    <p:sldId id="266" r:id="rId10"/>
    <p:sldId id="263" r:id="rId11"/>
    <p:sldId id="259" r:id="rId12"/>
    <p:sldId id="267" r:id="rId13"/>
    <p:sldId id="260" r:id="rId14"/>
    <p:sldId id="261" r:id="rId15"/>
    <p:sldId id="262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9"/>
    <p:restoredTop sz="94643"/>
  </p:normalViewPr>
  <p:slideViewPr>
    <p:cSldViewPr snapToGrid="0">
      <p:cViewPr varScale="1">
        <p:scale>
          <a:sx n="90" d="100"/>
          <a:sy n="90" d="100"/>
        </p:scale>
        <p:origin x="7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الثانوي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9122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7475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7775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08420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75383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1764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0271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94940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9807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3610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91149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411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>
            <a:spLocks noChangeArrowheads="1"/>
          </p:cNvSpPr>
          <p:nvPr/>
        </p:nvSpPr>
        <p:spPr bwMode="gray">
          <a:xfrm>
            <a:off x="0" y="3200400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+mn-cs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gray"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+mn-cs"/>
            </a:endParaRPr>
          </a:p>
        </p:txBody>
      </p:sp>
      <p:pic>
        <p:nvPicPr>
          <p:cNvPr id="7" name="Picture 12" descr="CL_Logo_RGB_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8017934" y="5002213"/>
            <a:ext cx="3596217" cy="117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3"/>
          <p:cNvSpPr>
            <a:spLocks noChangeShapeType="1"/>
          </p:cNvSpPr>
          <p:nvPr/>
        </p:nvSpPr>
        <p:spPr bwMode="gray">
          <a:xfrm>
            <a:off x="0" y="3200400"/>
            <a:ext cx="12192000" cy="0"/>
          </a:xfrm>
          <a:prstGeom prst="line">
            <a:avLst/>
          </a:prstGeom>
          <a:noFill/>
          <a:ln w="635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371600"/>
            <a:ext cx="10871200" cy="1600200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3352800"/>
            <a:ext cx="108712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2412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FC20B4F8-B0EA-42DC-A59E-568012008F41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923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69701AAC-2A81-4885-B8C8-D2242939C002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75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5384800" cy="4438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384800" cy="4438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AB044A41-1C11-4D7C-9FF1-DE5825F5CEB2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819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71D4484F-9C57-481D-911A-F4598C942067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6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665E3CFE-FF4E-4E82-A8F7-608ED69CD1F7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196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76ADF5B5-DF16-4613-A6BB-E9173FAAFF06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6188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8849A162-B8EB-4377-B603-32F7BDF1A0CA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07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777C15E0-FBD7-44E4-9AD2-866BAB7BD233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8766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7E8881BF-6F85-4414-A642-3646AB8D102D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363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0"/>
            <a:ext cx="2743200" cy="5200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0"/>
            <a:ext cx="8026400" cy="5200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0A7FAF26-783D-4ABC-B40D-8F831D802CEC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41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CFD31779-178C-4937-A7BF-1839326AB1DC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3097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4"/>
            <a:ext cx="109728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000501"/>
            <a:ext cx="109728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009AC6B-A570-43D6-B566-BF57A4A5988B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3411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ar-SA"/>
              <a:t>انقر لتحرير نمط العنوان الثانوي الرئيسي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E7E8E0-D539-43D2-8F3E-19E328DD60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E67FE8-EB0A-4A82-BEAB-3611A34911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ABDDFF-0063-4AEE-8BC9-F75B4594ED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ctr"/>
          <a:lstStyle>
            <a:lvl1pPr>
              <a:defRPr sz="900" b="1"/>
            </a:lvl1pPr>
          </a:lstStyle>
          <a:p>
            <a:pPr defTabSz="457200" rtl="0">
              <a:defRPr/>
            </a:pPr>
            <a:fld id="{C4A94CE5-C4DF-4BC3-989D-667A34F1C9BA}" type="slidenum">
              <a:rPr lang="en-US" altLang="en-US" smtClean="0">
                <a:solidFill>
                  <a:srgbClr val="000000"/>
                </a:solidFill>
              </a:rPr>
              <a:pPr defTabSz="457200" rtl="0">
                <a:defRPr/>
              </a:pPr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35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29E9AB-92CE-4BBD-8CFE-704E77C6FD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D4DCFB-4AA6-4C2E-9F7F-FE9018F62A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6CC803-E59F-49CB-93A2-1328937B71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ctr"/>
          <a:lstStyle>
            <a:lvl1pPr>
              <a:defRPr sz="900" b="1"/>
            </a:lvl1pPr>
          </a:lstStyle>
          <a:p>
            <a:pPr defTabSz="457200" rtl="0">
              <a:defRPr/>
            </a:pPr>
            <a:fld id="{DF7E5CF6-F788-4146-A098-136B6FE89126}" type="slidenum">
              <a:rPr lang="en-US" altLang="en-US" smtClean="0">
                <a:solidFill>
                  <a:srgbClr val="000000"/>
                </a:solidFill>
              </a:rPr>
              <a:pPr defTabSz="457200" rtl="0">
                <a:defRPr/>
              </a:pPr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8133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EBD8F59-E7B7-4F76-BE9C-4753DC353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9D5BBF-2553-4C18-9A45-76226CE943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1B08ED-F38E-43FE-8035-B0891A80DF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ctr"/>
          <a:lstStyle>
            <a:lvl1pPr>
              <a:defRPr sz="900" b="1"/>
            </a:lvl1pPr>
          </a:lstStyle>
          <a:p>
            <a:pPr defTabSz="457200" rtl="0">
              <a:defRPr/>
            </a:pPr>
            <a:fld id="{3363FE5A-F3F8-48F1-8FB8-6EF20D1A9C66}" type="slidenum">
              <a:rPr lang="en-US" altLang="en-US" smtClean="0">
                <a:solidFill>
                  <a:srgbClr val="000000"/>
                </a:solidFill>
              </a:rPr>
              <a:pPr defTabSz="457200" rtl="0">
                <a:defRPr/>
              </a:pPr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908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7EE927D-99C5-41B6-986F-F8E37733F6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EE440ED-E79D-4122-A924-5020B13FB3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277462C-1842-494A-BCB0-BBB2D1282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ctr"/>
          <a:lstStyle>
            <a:lvl1pPr>
              <a:defRPr sz="900" b="1"/>
            </a:lvl1pPr>
          </a:lstStyle>
          <a:p>
            <a:pPr defTabSz="457200" rtl="0">
              <a:defRPr/>
            </a:pPr>
            <a:fld id="{6AAD0066-99D3-4F26-8E4E-822C05AA574D}" type="slidenum">
              <a:rPr lang="en-US" altLang="en-US" smtClean="0">
                <a:solidFill>
                  <a:srgbClr val="000000"/>
                </a:solidFill>
              </a:rPr>
              <a:pPr defTabSz="457200" rtl="0">
                <a:defRPr/>
              </a:pPr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3494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dirty="0"/>
              <a:t>انقر لتحرير أنماط النص الرئيسي</a:t>
            </a:r>
          </a:p>
          <a:p>
            <a:pPr lvl="1"/>
            <a:r>
              <a:rPr lang="ar-SA" dirty="0"/>
              <a:t>المستوى الثاني</a:t>
            </a:r>
          </a:p>
          <a:p>
            <a:pPr lvl="2"/>
            <a:r>
              <a:rPr lang="ar-SA" dirty="0"/>
              <a:t>المستوى الثالث</a:t>
            </a:r>
          </a:p>
          <a:p>
            <a:pPr lvl="3"/>
            <a:r>
              <a:rPr lang="ar-SA" dirty="0"/>
              <a:t>المستوى الرابع</a:t>
            </a:r>
          </a:p>
          <a:p>
            <a:pPr lvl="4"/>
            <a:r>
              <a:rPr lang="ar-SA" dirty="0"/>
              <a:t>المستوى الخامس</a:t>
            </a:r>
            <a:endParaRPr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0EB94-FFF5-47BD-9A41-41F3B8DFFB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DF607B-DBA0-4DD3-9C5E-4C75850EAC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13C28-96B9-4FA1-A2F6-6515AEE300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ctr"/>
          <a:lstStyle>
            <a:lvl1pPr>
              <a:defRPr sz="900" b="1"/>
            </a:lvl1pPr>
          </a:lstStyle>
          <a:p>
            <a:pPr defTabSz="457200" rtl="0">
              <a:defRPr/>
            </a:pPr>
            <a:fld id="{F419EAC9-897E-4EC0-A985-F8E45D6925E9}" type="slidenum">
              <a:rPr lang="en-US" altLang="en-US" smtClean="0">
                <a:solidFill>
                  <a:srgbClr val="000000"/>
                </a:solidFill>
              </a:rPr>
              <a:pPr defTabSz="457200" rtl="0">
                <a:defRPr/>
              </a:pPr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3756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عنوان ومخطط أو مخطط هيكل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ـ SmartArt 2"/>
          <p:cNvSpPr>
            <a:spLocks noGrp="1"/>
          </p:cNvSpPr>
          <p:nvPr>
            <p:ph type="dgm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BA55F6-1798-402D-87F8-42B4D63499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E0AF3B-B409-43A1-BDCC-D296237FB3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CC9198-81D0-4820-8CFD-E41959058B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rtl="0">
              <a:defRPr/>
            </a:pPr>
            <a:fld id="{CD22F120-FB69-48E5-9D95-9F9B621D6EC0}" type="slidenum">
              <a:rPr lang="en-US" altLang="en-US" smtClean="0">
                <a:solidFill>
                  <a:srgbClr val="000000"/>
                </a:solidFill>
              </a:rPr>
              <a:pPr defTabSz="457200" rtl="0"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493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0967-209A-4B3B-B239-1C550861A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4300"/>
            <a:ext cx="10970795" cy="1120140"/>
          </a:xfrm>
          <a:noFill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C2592B-391F-429D-AA80-BB067C42BA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444752"/>
            <a:ext cx="109728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76"/>
              </a:spcBef>
              <a:spcAft>
                <a:spcPts val="0"/>
              </a:spcAft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7472" indent="-347472">
              <a:spcBef>
                <a:spcPts val="576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17220" indent="-205740">
              <a:spcBef>
                <a:spcPts val="0"/>
              </a:spcBef>
              <a:spcAft>
                <a:spcPts val="600"/>
              </a:spcAft>
              <a:buClr>
                <a:srgbClr val="085367"/>
              </a:buClr>
              <a:buFont typeface="Arial" panose="020B0604020202020204" pitchFamily="34" charset="0"/>
              <a:buChar char="•"/>
              <a:defRPr sz="2000">
                <a:latin typeface="+mn-lt"/>
                <a:cs typeface="Times New Roman" panose="02020603050405020304" pitchFamily="18" charset="0"/>
              </a:defRPr>
            </a:lvl3pPr>
            <a:lvl4pPr marL="891540" indent="-205740">
              <a:spcBef>
                <a:spcPts val="900"/>
              </a:spcBef>
              <a:spcAft>
                <a:spcPts val="450"/>
              </a:spcAft>
              <a:buClr>
                <a:srgbClr val="663F78"/>
              </a:buCl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65860" indent="-171450"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Slide Content 1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D7B10A1-A690-4118-B8C0-D5B100569A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" y="3146311"/>
            <a:ext cx="10972800" cy="1447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7472" indent="-347472" algn="l" defTabSz="6858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17220" indent="-205740">
              <a:spcBef>
                <a:spcPts val="0"/>
              </a:spcBef>
              <a:spcAft>
                <a:spcPts val="600"/>
              </a:spcAft>
              <a:buClr>
                <a:srgbClr val="085367"/>
              </a:buClr>
              <a:buFont typeface="Arial" panose="020B0604020202020204" pitchFamily="34" charset="0"/>
              <a:buChar char="•"/>
              <a:defRPr sz="2000">
                <a:latin typeface="+mn-lt"/>
                <a:cs typeface="Times New Roman" panose="02020603050405020304" pitchFamily="18" charset="0"/>
              </a:defRPr>
            </a:lvl3pPr>
            <a:lvl4pPr marL="891540" indent="-205740">
              <a:spcBef>
                <a:spcPts val="900"/>
              </a:spcBef>
              <a:spcAft>
                <a:spcPts val="450"/>
              </a:spcAft>
              <a:buClr>
                <a:srgbClr val="663F78"/>
              </a:buCl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65860" indent="-171450"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E870F0C-3217-4F50-B505-7937F1D8CD4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600" y="4695470"/>
            <a:ext cx="10970795" cy="1447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7472" indent="-347472" algn="l" defTabSz="6858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17220" indent="-205740">
              <a:spcBef>
                <a:spcPts val="0"/>
              </a:spcBef>
              <a:spcAft>
                <a:spcPts val="600"/>
              </a:spcAft>
              <a:buClr>
                <a:srgbClr val="085367"/>
              </a:buClr>
              <a:buFont typeface="Arial" panose="020B0604020202020204" pitchFamily="34" charset="0"/>
              <a:buChar char="•"/>
              <a:defRPr sz="2000">
                <a:latin typeface="+mn-lt"/>
                <a:cs typeface="Times New Roman" panose="02020603050405020304" pitchFamily="18" charset="0"/>
              </a:defRPr>
            </a:lvl3pPr>
            <a:lvl4pPr marL="891540" indent="-205740">
              <a:spcBef>
                <a:spcPts val="900"/>
              </a:spcBef>
              <a:spcAft>
                <a:spcPts val="450"/>
              </a:spcAft>
              <a:buClr>
                <a:srgbClr val="663F78"/>
              </a:buCl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65860" indent="-171450"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E256BA-E5FA-4523-AB7A-C1B31494E2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2000" y="6400481"/>
            <a:ext cx="3048000" cy="184469"/>
          </a:xfrm>
        </p:spPr>
        <p:txBody>
          <a:bodyPr anchor="ctr">
            <a:noAutofit/>
          </a:bodyPr>
          <a:lstStyle>
            <a:lvl1pPr algn="ct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 alternative link, if needed.</a:t>
            </a:r>
            <a:endParaRPr lang="en-IN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E9A0C31-B043-430D-B28E-EA0B4E6653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30400" y="6647724"/>
            <a:ext cx="9448800" cy="184150"/>
          </a:xfrm>
        </p:spPr>
        <p:txBody>
          <a:bodyPr anchor="ctr">
            <a:noAutofit/>
          </a:bodyPr>
          <a:lstStyle>
            <a:lvl1pPr algn="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 sz="800">
                <a:latin typeface="+mn-lt"/>
              </a:defRPr>
            </a:lvl2pPr>
            <a:lvl3pPr algn="r">
              <a:defRPr sz="800">
                <a:latin typeface="+mn-lt"/>
              </a:defRPr>
            </a:lvl3pPr>
            <a:lvl4pPr algn="r">
              <a:defRPr sz="800">
                <a:latin typeface="+mn-lt"/>
              </a:defRPr>
            </a:lvl4pPr>
            <a:lvl5pPr algn="r">
              <a:defRPr sz="800"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A57DB28-B48C-4EAE-836F-686F1B369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3202" y="6629400"/>
            <a:ext cx="588799" cy="1937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457200" rtl="0"/>
            <a:fld id="{E61124D7-3D3F-409D-95D2-103C22DF228D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 defTabSz="457200" rtl="0"/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729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Title 1">
            <a:extLst>
              <a:ext uri="{FF2B5EF4-FFF2-40B4-BE49-F238E27FC236}">
                <a16:creationId xmlns:a16="http://schemas.microsoft.com/office/drawing/2014/main" id="{DDD6C561-8E82-4789-A8FD-32A79AFD55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14300"/>
            <a:ext cx="10972800" cy="112014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2D5312-27D6-4AFF-A813-1C42A05AC2C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1444752"/>
            <a:ext cx="10972800" cy="4727448"/>
          </a:xfrm>
        </p:spPr>
        <p:txBody>
          <a:bodyPr>
            <a:normAutofit/>
          </a:bodyPr>
          <a:lstStyle>
            <a:lvl1pPr>
              <a:spcBef>
                <a:spcPts val="576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7472" indent="-347472">
              <a:spcBef>
                <a:spcPts val="576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2000">
                <a:latin typeface="Calibri (Body)"/>
                <a:cs typeface="Times New Roman" panose="02020603050405020304" pitchFamily="18" charset="0"/>
              </a:defRPr>
            </a:lvl3pPr>
            <a:lvl4pPr>
              <a:spcBef>
                <a:spcPts val="0"/>
              </a:spcBef>
              <a:spcAft>
                <a:spcPts val="1200"/>
              </a:spcAft>
              <a:defRPr sz="1800">
                <a:latin typeface="Calibri (Body)"/>
                <a:cs typeface="Times New Roman" panose="02020603050405020304" pitchFamily="18" charset="0"/>
              </a:defRPr>
            </a:lvl4pPr>
            <a:lvl5pPr>
              <a:spcBef>
                <a:spcPts val="0"/>
              </a:spcBef>
              <a:spcAft>
                <a:spcPts val="1200"/>
              </a:spcAft>
              <a:defRPr sz="1600">
                <a:latin typeface="Calibri (Body)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18561-DC1D-4315-9FAC-C384E25552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2000" y="6400481"/>
            <a:ext cx="3048000" cy="184469"/>
          </a:xfrm>
        </p:spPr>
        <p:txBody>
          <a:bodyPr anchor="ctr">
            <a:noAutofit/>
          </a:bodyPr>
          <a:lstStyle>
            <a:lvl1pPr algn="ct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 alternative link, if needed.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C4EDC-1BAA-4C20-89C3-9D5BBD9F1B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30400" y="6646956"/>
            <a:ext cx="9448800" cy="184150"/>
          </a:xfrm>
        </p:spPr>
        <p:txBody>
          <a:bodyPr anchor="ctr">
            <a:noAutofit/>
          </a:bodyPr>
          <a:lstStyle>
            <a:lvl1pPr algn="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 sz="800">
                <a:latin typeface="+mn-lt"/>
              </a:defRPr>
            </a:lvl2pPr>
            <a:lvl3pPr algn="r">
              <a:defRPr sz="800">
                <a:latin typeface="+mn-lt"/>
              </a:defRPr>
            </a:lvl3pPr>
            <a:lvl4pPr algn="r">
              <a:defRPr sz="800">
                <a:latin typeface="+mn-lt"/>
              </a:defRPr>
            </a:lvl4pPr>
            <a:lvl5pPr algn="r">
              <a:defRPr sz="800"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FE7DF9-AB7C-4227-9BC0-4BA20BFAA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3202" y="6629400"/>
            <a:ext cx="588799" cy="1937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457200" rtl="0"/>
            <a:fld id="{E61124D7-3D3F-409D-95D2-103C22DF228D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 defTabSz="457200" rtl="0"/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360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Title 1">
            <a:extLst>
              <a:ext uri="{FF2B5EF4-FFF2-40B4-BE49-F238E27FC236}">
                <a16:creationId xmlns:a16="http://schemas.microsoft.com/office/drawing/2014/main" id="{38A07930-AB41-4C2A-B51A-FE9D9CCD49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90500"/>
            <a:ext cx="10972800" cy="104394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 dirty="0"/>
              <a:t>Slide Title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9714154-AF96-4E41-9C12-92237B79035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9600" y="1444752"/>
            <a:ext cx="10972800" cy="530352"/>
          </a:xfrm>
        </p:spPr>
        <p:txBody>
          <a:bodyPr>
            <a:noAutofit/>
          </a:bodyPr>
          <a:lstStyle>
            <a:lvl1pPr>
              <a:spcBef>
                <a:spcPts val="576"/>
              </a:spcBef>
              <a:spcAft>
                <a:spcPts val="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Calibri (Body)"/>
              </a:defRPr>
            </a:lvl2pPr>
            <a:lvl3pPr>
              <a:defRPr sz="2400">
                <a:latin typeface="Calibri (Body)"/>
              </a:defRPr>
            </a:lvl3pPr>
            <a:lvl4pPr>
              <a:defRPr sz="2400">
                <a:latin typeface="Calibri (Body)"/>
              </a:defRPr>
            </a:lvl4pPr>
            <a:lvl5pPr>
              <a:defRPr sz="2400">
                <a:latin typeface="Calibri (Body)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Content 1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5E76B15F-F418-437A-9667-808069D61A2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09600" y="2109806"/>
            <a:ext cx="10972800" cy="530352"/>
          </a:xfrm>
        </p:spPr>
        <p:txBody>
          <a:bodyPr>
            <a:noAutofit/>
          </a:bodyPr>
          <a:lstStyle>
            <a:lvl1pPr>
              <a:spcBef>
                <a:spcPts val="576"/>
              </a:spcBef>
              <a:spcAft>
                <a:spcPts val="0"/>
              </a:spcAft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Content 2</a:t>
            </a: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FE5659B1-C523-48B0-8F94-C14174EA72E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2774860"/>
            <a:ext cx="10972800" cy="530352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Content 3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3EFBD9E4-1992-4FF6-8639-498C6A828C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3439914"/>
            <a:ext cx="10972800" cy="530352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Content 4</a:t>
            </a:r>
          </a:p>
        </p:txBody>
      </p:sp>
      <p:sp>
        <p:nvSpPr>
          <p:cNvPr id="33" name="Content Placeholder 6">
            <a:extLst>
              <a:ext uri="{FF2B5EF4-FFF2-40B4-BE49-F238E27FC236}">
                <a16:creationId xmlns:a16="http://schemas.microsoft.com/office/drawing/2014/main" id="{7B38EE77-54FE-4BAF-8298-4A674CBF28D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" y="4104968"/>
            <a:ext cx="10972800" cy="530352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Content 5</a:t>
            </a:r>
          </a:p>
        </p:txBody>
      </p:sp>
      <p:sp>
        <p:nvSpPr>
          <p:cNvPr id="34" name="Content Placeholder 7">
            <a:extLst>
              <a:ext uri="{FF2B5EF4-FFF2-40B4-BE49-F238E27FC236}">
                <a16:creationId xmlns:a16="http://schemas.microsoft.com/office/drawing/2014/main" id="{4DCD4EF9-45E3-4449-8C53-F5BA2B33D0E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09600" y="4770022"/>
            <a:ext cx="10972800" cy="530352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Content 6</a:t>
            </a:r>
          </a:p>
        </p:txBody>
      </p:sp>
      <p:sp>
        <p:nvSpPr>
          <p:cNvPr id="35" name="Content Placeholder 8">
            <a:extLst>
              <a:ext uri="{FF2B5EF4-FFF2-40B4-BE49-F238E27FC236}">
                <a16:creationId xmlns:a16="http://schemas.microsoft.com/office/drawing/2014/main" id="{339D8DFC-B6FA-47FD-8F4B-D342238E57D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9600" y="5435077"/>
            <a:ext cx="10972800" cy="530352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Content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5FD81-C6A5-4CBE-89C6-D6C0603123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13200" y="6286500"/>
            <a:ext cx="4165600" cy="228600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IN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619478D-379B-4CBE-BBC0-EE5CD33AA1F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30400" y="6647724"/>
            <a:ext cx="9448800" cy="184150"/>
          </a:xfrm>
        </p:spPr>
        <p:txBody>
          <a:bodyPr anchor="ctr">
            <a:noAutofit/>
          </a:bodyPr>
          <a:lstStyle>
            <a:lvl1pPr algn="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 sz="800">
                <a:latin typeface="+mn-lt"/>
              </a:defRPr>
            </a:lvl2pPr>
            <a:lvl3pPr algn="r">
              <a:defRPr sz="800">
                <a:latin typeface="+mn-lt"/>
              </a:defRPr>
            </a:lvl3pPr>
            <a:lvl4pPr algn="r">
              <a:defRPr sz="800">
                <a:latin typeface="+mn-lt"/>
              </a:defRPr>
            </a:lvl4pPr>
            <a:lvl5pPr algn="r">
              <a:defRPr sz="800"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4DF94FD-EA9F-44A4-8DE0-6BAC7E32E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3202" y="6629400"/>
            <a:ext cx="588799" cy="1937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457200" rtl="0"/>
            <a:fld id="{E61124D7-3D3F-409D-95D2-103C22DF228D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 defTabSz="457200" rtl="0"/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584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Title 1">
            <a:extLst>
              <a:ext uri="{FF2B5EF4-FFF2-40B4-BE49-F238E27FC236}">
                <a16:creationId xmlns:a16="http://schemas.microsoft.com/office/drawing/2014/main" id="{3D0D8C85-F56C-4538-B55D-157BD6D94C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57176"/>
            <a:ext cx="10972800" cy="97726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3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EF80F99-A396-44B3-94AB-AEC6C5935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444752"/>
            <a:ext cx="10972800" cy="2362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7472" indent="-347472">
              <a:spcBef>
                <a:spcPts val="9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17220" indent="-205740">
              <a:spcBef>
                <a:spcPts val="0"/>
              </a:spcBef>
              <a:spcAft>
                <a:spcPts val="600"/>
              </a:spcAft>
              <a:buClr>
                <a:srgbClr val="085367"/>
              </a:buClr>
              <a:buFont typeface="Arial" panose="020B0604020202020204" pitchFamily="34" charset="0"/>
              <a:buChar char="•"/>
              <a:defRPr sz="2000">
                <a:latin typeface="+mn-lt"/>
                <a:cs typeface="Times New Roman" panose="02020603050405020304" pitchFamily="18" charset="0"/>
              </a:defRPr>
            </a:lvl3pPr>
            <a:lvl4pPr marL="891540" indent="-205740">
              <a:spcBef>
                <a:spcPts val="900"/>
              </a:spcBef>
              <a:spcAft>
                <a:spcPts val="450"/>
              </a:spcAft>
              <a:buClr>
                <a:srgbClr val="663F78"/>
              </a:buCl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65860" indent="-171450"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Slide Content 1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DB1F3D1-701A-43B1-8413-640C37A6885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" y="3806952"/>
            <a:ext cx="10972800" cy="2362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7472" indent="-347472" algn="l" defTabSz="6858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17220" indent="-205740">
              <a:spcBef>
                <a:spcPts val="0"/>
              </a:spcBef>
              <a:spcAft>
                <a:spcPts val="600"/>
              </a:spcAft>
              <a:buClr>
                <a:srgbClr val="085367"/>
              </a:buClr>
              <a:buFont typeface="Arial" panose="020B0604020202020204" pitchFamily="34" charset="0"/>
              <a:buChar char="•"/>
              <a:defRPr sz="2000">
                <a:latin typeface="+mn-lt"/>
                <a:cs typeface="Times New Roman" panose="02020603050405020304" pitchFamily="18" charset="0"/>
              </a:defRPr>
            </a:lvl3pPr>
            <a:lvl4pPr marL="891540" indent="-205740">
              <a:spcBef>
                <a:spcPts val="900"/>
              </a:spcBef>
              <a:spcAft>
                <a:spcPts val="450"/>
              </a:spcAft>
              <a:buClr>
                <a:srgbClr val="663F78"/>
              </a:buClr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65860" indent="-171450"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B103AAA-410F-4165-AD7C-EECD573FC0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82800" y="6362701"/>
            <a:ext cx="3048000" cy="184469"/>
          </a:xfrm>
        </p:spPr>
        <p:txBody>
          <a:bodyPr anchor="ctr">
            <a:noAutofit/>
          </a:bodyPr>
          <a:lstStyle>
            <a:lvl1pPr algn="ct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 alternative link, if needed.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5DB38-781F-4C4A-B40E-096BF9A1CD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21600" y="6400800"/>
            <a:ext cx="3352800" cy="200025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53F8A-57FF-4CF1-83B7-431C451D23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4549" y="6662832"/>
            <a:ext cx="6724651" cy="168275"/>
          </a:xfrm>
        </p:spPr>
        <p:txBody>
          <a:bodyPr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lvl="0"/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12CBD2A-4C50-4838-A6B1-F7006A3BA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3202" y="6629400"/>
            <a:ext cx="588799" cy="1937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457200" rtl="0"/>
            <a:fld id="{E61124D7-3D3F-409D-95D2-103C22DF228D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 defTabSz="457200" rtl="0"/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47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4D849E3-32F2-47FB-9482-3F7CBA5BB2C5}" type="datetimeFigureOut">
              <a:rPr lang="ar-SA" smtClean="0"/>
              <a:t>11 ربيع الأول،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9D02A99-5C11-4BCB-A808-1D5E4784A10A}" type="slidenum">
              <a:rPr lang="ar-SA" smtClean="0"/>
              <a:t>‹#›</a:t>
            </a:fld>
            <a:endParaRPr lang="ar-SA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520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txStyles>
    <p:titleStyle>
      <a:lvl1pPr algn="l" defTabSz="914400" rtl="1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r" defTabSz="914400" rtl="1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914400"/>
            <a:ext cx="1097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1097280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16800" y="6413500"/>
            <a:ext cx="1422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latin typeface="Arial" charset="0"/>
                <a:ea typeface="ＭＳ Ｐゴシック" pitchFamily="112" charset="-128"/>
                <a:cs typeface="+mn-cs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14400" y="6413500"/>
            <a:ext cx="6502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800">
                <a:latin typeface="Arial" charset="0"/>
                <a:ea typeface="ＭＳ Ｐゴシック" pitchFamily="112" charset="-128"/>
                <a:cs typeface="+mn-cs"/>
              </a:defRPr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" y="6413500"/>
            <a:ext cx="304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800"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8278A949-36F1-4D71-9E09-CB0293BBC4DB}" type="slidenum">
              <a:rPr lang="en-US" altLang="en-US" smtClean="0">
                <a:solidFill>
                  <a:srgbClr val="000000"/>
                </a:solidFill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90" b="52380"/>
          <a:stretch>
            <a:fillRect/>
          </a:stretch>
        </p:blipFill>
        <p:spPr bwMode="gray">
          <a:xfrm>
            <a:off x="0" y="0"/>
            <a:ext cx="1219411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0" y="684214"/>
            <a:ext cx="12192000" cy="1095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+mn-cs"/>
            </a:endParaRPr>
          </a:p>
        </p:txBody>
      </p:sp>
      <p:pic>
        <p:nvPicPr>
          <p:cNvPr id="1033" name="Picture 9" descr="CL_Logo_RGB_PNG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734" y="6035676"/>
            <a:ext cx="2059517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gray">
          <a:xfrm>
            <a:off x="0" y="6721476"/>
            <a:ext cx="12192000" cy="136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84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+mj-lt"/>
          <a:ea typeface="MS PGothic" panose="020B0600070205080204" pitchFamily="34" charset="-128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MS PGothic" panose="020B0600070205080204" pitchFamily="34" charset="-128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MS PGothic" panose="020B0600070205080204" pitchFamily="34" charset="-128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MS PGothic" panose="020B0600070205080204" pitchFamily="34" charset="-128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MS PGothic" panose="020B0600070205080204" pitchFamily="34" charset="-128"/>
          <a:cs typeface="ＭＳ Ｐゴシック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ＭＳ Ｐゴシック" pitchFamily="11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ＭＳ Ｐゴシック" pitchFamily="11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ＭＳ Ｐゴシック" pitchFamily="11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charset="0"/>
          <a:ea typeface="ＭＳ Ｐゴシック" pitchFamily="112" charset="-128"/>
        </a:defRPr>
      </a:lvl9pPr>
    </p:titleStyle>
    <p:bodyStyle>
      <a:lvl1pPr marL="342900" indent="-342900" algn="l" rtl="0" eaLnBrk="0" fontAlgn="base" hangingPunct="0">
        <a:lnSpc>
          <a:spcPts val="2200"/>
        </a:lnSpc>
        <a:spcBef>
          <a:spcPct val="50000"/>
        </a:spcBef>
        <a:spcAft>
          <a:spcPct val="0"/>
        </a:spcAft>
        <a:defRPr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1pPr>
      <a:lvl2pPr marL="452438" indent="-223838" algn="l" rtl="0" eaLnBrk="0" fontAlgn="base" hangingPunct="0">
        <a:spcBef>
          <a:spcPct val="5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2pPr>
      <a:lvl3pPr marL="741363" indent="-174625" algn="l" rtl="0" eaLnBrk="0" fontAlgn="base" hangingPunct="0">
        <a:spcBef>
          <a:spcPct val="3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3pPr>
      <a:lvl4pPr marL="1028700" indent="-173038" algn="l" rtl="0" eaLnBrk="0" fontAlgn="base" hangingPunct="0">
        <a:spcBef>
          <a:spcPct val="3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4pPr>
      <a:lvl5pPr marL="1314450" indent="-171450" algn="l" rtl="0" eaLnBrk="0" fontAlgn="base" hangingPunct="0">
        <a:spcBef>
          <a:spcPct val="3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/>
        </a:defRPr>
      </a:lvl5pPr>
      <a:lvl6pPr marL="1771650" indent="-171450" algn="l" rtl="0" eaLnBrk="1" fontAlgn="base" hangingPunct="1">
        <a:spcBef>
          <a:spcPct val="30000"/>
        </a:spcBef>
        <a:spcAft>
          <a:spcPct val="0"/>
        </a:spcAft>
        <a:buClr>
          <a:schemeClr val="hlink"/>
        </a:buClr>
        <a:buFont typeface="Wingdings" pitchFamily="112" charset="2"/>
        <a:buChar char="§"/>
        <a:defRPr sz="14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30000"/>
        </a:spcBef>
        <a:spcAft>
          <a:spcPct val="0"/>
        </a:spcAft>
        <a:buClr>
          <a:schemeClr val="hlink"/>
        </a:buClr>
        <a:buFont typeface="Wingdings" pitchFamily="112" charset="2"/>
        <a:buChar char="§"/>
        <a:defRPr sz="1400">
          <a:solidFill>
            <a:schemeClr val="tx1"/>
          </a:solidFill>
          <a:latin typeface="+mn-lt"/>
          <a:ea typeface="+mn-ea"/>
        </a:defRPr>
      </a:lvl7pPr>
      <a:lvl8pPr marL="2686050" indent="-171450" algn="l" rtl="0" eaLnBrk="1" fontAlgn="base" hangingPunct="1">
        <a:spcBef>
          <a:spcPct val="30000"/>
        </a:spcBef>
        <a:spcAft>
          <a:spcPct val="0"/>
        </a:spcAft>
        <a:buClr>
          <a:schemeClr val="hlink"/>
        </a:buClr>
        <a:buFont typeface="Wingdings" pitchFamily="112" charset="2"/>
        <a:buChar char="§"/>
        <a:defRPr sz="1400">
          <a:solidFill>
            <a:schemeClr val="tx1"/>
          </a:solidFill>
          <a:latin typeface="+mn-lt"/>
          <a:ea typeface="+mn-ea"/>
        </a:defRPr>
      </a:lvl8pPr>
      <a:lvl9pPr marL="3143250" indent="-171450" algn="l" rtl="0" eaLnBrk="1" fontAlgn="base" hangingPunct="1">
        <a:spcBef>
          <a:spcPct val="30000"/>
        </a:spcBef>
        <a:spcAft>
          <a:spcPct val="0"/>
        </a:spcAft>
        <a:buClr>
          <a:schemeClr val="hlink"/>
        </a:buClr>
        <a:buFont typeface="Wingdings" pitchFamily="112" charset="2"/>
        <a:buChar char="§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E204FD5-97B3-4DEB-B9CA-179E6056A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6C2C4C-B02F-4574-AF04-3965CDD8C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EAD9A1F-2191-4AC8-A6CF-AF61371DEF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defTabSz="457200" rtl="0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DAC3DBA-D4E5-44FF-BC34-767580BE3C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defTabSz="457200" rtl="0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97A787-E10A-4366-BE98-BC797C4831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900" b="1">
                <a:latin typeface="Arial" panose="020B0604020202020204" pitchFamily="34" charset="0"/>
              </a:defRPr>
            </a:lvl1pPr>
          </a:lstStyle>
          <a:p>
            <a:pPr defTabSz="457200" rtl="0">
              <a:defRPr/>
            </a:pPr>
            <a:fld id="{DB2E3657-C18A-4107-9EB8-E3288675D260}" type="slidenum">
              <a:rPr lang="en-US" altLang="en-US" smtClean="0">
                <a:solidFill>
                  <a:srgbClr val="000000"/>
                </a:solidFill>
              </a:rPr>
              <a:pPr defTabSz="457200" rtl="0">
                <a:defRPr/>
              </a:pPr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01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8.png"/><Relationship Id="rId7" Type="http://schemas.openxmlformats.org/officeDocument/2006/relationships/image" Target="../media/image1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wmf"/><Relationship Id="rId5" Type="http://schemas.openxmlformats.org/officeDocument/2006/relationships/image" Target="../media/image9.e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</a:t>
            </a:r>
            <a:endParaRPr lang="ar-SA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Part 1</a:t>
            </a:r>
            <a:endParaRPr lang="ar-SA" sz="2800" dirty="0"/>
          </a:p>
        </p:txBody>
      </p:sp>
    </p:spTree>
    <p:extLst>
      <p:ext uri="{BB962C8B-B14F-4D97-AF65-F5344CB8AC3E}">
        <p14:creationId xmlns:p14="http://schemas.microsoft.com/office/powerpoint/2010/main" val="2144443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371600" y="173182"/>
            <a:ext cx="9601200" cy="14859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Scientific Notation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522413" y="1208943"/>
            <a:ext cx="9117878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ts val="2200"/>
              </a:lnSpc>
              <a:spcBef>
                <a:spcPct val="5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00" indent="-22860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When writing out numbers with many digits, spacing in groups of three will be used.</a:t>
            </a:r>
          </a:p>
          <a:p>
            <a:pPr marL="685800" marR="0" lvl="1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No commas</a:t>
            </a:r>
          </a:p>
          <a:p>
            <a:pPr marL="685800" marR="0" lvl="1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Standard international notation</a:t>
            </a:r>
          </a:p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Examples:</a:t>
            </a:r>
          </a:p>
          <a:p>
            <a:pPr marL="685800" marR="0" lvl="1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25 100 </a:t>
            </a:r>
          </a:p>
          <a:p>
            <a:pPr marL="685800" marR="0" lvl="1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5.123 456 789 12</a:t>
            </a:r>
          </a:p>
          <a:p>
            <a:pPr marL="685800" marR="0" lvl="1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382004" y="5844996"/>
            <a:ext cx="8632202" cy="73404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FF"/>
              </a:buClr>
              <a:buSzPct val="25000"/>
              <a:defRPr/>
            </a:pPr>
            <a:r>
              <a:rPr lang="en-US" altLang="en-US" sz="1400" b="1" i="1" u="sng" dirty="0">
                <a:solidFill>
                  <a:srgbClr val="CC00FF"/>
                </a:solidFill>
                <a:cs typeface="Arial" panose="020B0604020202020204" pitchFamily="34" charset="0"/>
                <a:sym typeface="Arial" panose="020B0604020202020204" pitchFamily="34" charset="0"/>
              </a:rPr>
              <a:t>Standard form</a:t>
            </a:r>
            <a:r>
              <a:rPr lang="en-US" altLang="en-US" sz="1400" dirty="0">
                <a:solidFill>
                  <a:srgbClr val="FF7C80"/>
                </a:solidFill>
                <a:cs typeface="Arial" panose="020B0604020202020204" pitchFamily="34" charset="0"/>
                <a:sym typeface="Arial" panose="020B0604020202020204" pitchFamily="34" charset="0"/>
              </a:rPr>
              <a:t> or </a:t>
            </a:r>
            <a:r>
              <a:rPr lang="en-US" altLang="en-US" sz="1400" b="1" i="1" u="sng" dirty="0">
                <a:solidFill>
                  <a:srgbClr val="CC00FF"/>
                </a:solidFill>
                <a:cs typeface="Arial" panose="020B0604020202020204" pitchFamily="34" charset="0"/>
                <a:sym typeface="Arial" panose="020B0604020202020204" pitchFamily="34" charset="0"/>
              </a:rPr>
              <a:t>scientific notation</a:t>
            </a:r>
            <a:r>
              <a:rPr lang="en-US" altLang="en-US" sz="1400" dirty="0">
                <a:solidFill>
                  <a:srgbClr val="FF7C80"/>
                </a:solidFill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is used to express magnitude in a simpler way. In scientific notation, a numerical magnitude can be written as : </a:t>
            </a:r>
            <a:r>
              <a:rPr lang="en-US" altLang="en-US" sz="1400" b="1" dirty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A x 10</a:t>
            </a:r>
            <a:r>
              <a:rPr lang="en-US" altLang="en-US" sz="1400" b="1" i="1" baseline="30000" dirty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lang="en-US" altLang="en-US" sz="1400" b="1" dirty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en-US" sz="1400" dirty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where </a:t>
            </a:r>
            <a:r>
              <a:rPr lang="en-US" altLang="en-US" sz="1400" dirty="0">
                <a:solidFill>
                  <a:srgbClr val="0070C0"/>
                </a:solidFill>
                <a:highlight>
                  <a:srgbClr val="FFFF00"/>
                </a:highlight>
                <a:cs typeface="Arial" panose="020B0604020202020204" pitchFamily="34" charset="0"/>
                <a:sym typeface="Arial" panose="020B0604020202020204" pitchFamily="34" charset="0"/>
              </a:rPr>
              <a:t>1 ≤ A &lt; 10 </a:t>
            </a:r>
            <a:r>
              <a:rPr lang="en-US" altLang="en-US" sz="1400" dirty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and </a:t>
            </a:r>
            <a:r>
              <a:rPr lang="en-US" altLang="en-US" sz="1400" i="1" dirty="0">
                <a:solidFill>
                  <a:srgbClr val="0070C0"/>
                </a:solidFill>
                <a:highlight>
                  <a:srgbClr val="FFFF00"/>
                </a:highlight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lang="en-US" altLang="en-US" sz="1400" dirty="0">
                <a:solidFill>
                  <a:srgbClr val="0070C0"/>
                </a:solidFill>
                <a:cs typeface="Arial" panose="020B0604020202020204" pitchFamily="34" charset="0"/>
                <a:sym typeface="Arial" panose="020B0604020202020204" pitchFamily="34" charset="0"/>
              </a:rPr>
              <a:t> is an integer (+ or – sign).</a:t>
            </a:r>
          </a:p>
          <a:p>
            <a:pPr algn="l" rtl="0" eaLnBrk="0" fontAlgn="base" hangingPunct="0">
              <a:lnSpc>
                <a:spcPct val="80000"/>
              </a:lnSpc>
              <a:spcBef>
                <a:spcPts val="300"/>
              </a:spcBef>
              <a:spcAft>
                <a:spcPct val="0"/>
              </a:spcAft>
              <a:buClr>
                <a:srgbClr val="0000FF"/>
              </a:buClr>
              <a:buSzPct val="25000"/>
              <a:defRPr/>
            </a:pPr>
            <a:endParaRPr lang="en-US" altLang="en-US" sz="1400" dirty="0">
              <a:solidFill>
                <a:srgbClr val="0070C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24684" y="3629005"/>
            <a:ext cx="8632825" cy="22159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14313" marR="0" lvl="0" indent="-2143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Using Scientific Notation (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C9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Times New Roman" pitchFamily="18" charset="0"/>
              </a:rPr>
              <a:t>Powers of 10): 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  <a:sym typeface="Symbol" pitchFamily="18" charset="2"/>
              </a:rPr>
              <a:t>Common to express very large or very small numbers using powers of 10 notation.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    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Examples: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sym typeface="Symbol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			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39,600 = 3.96  10</a:t>
            </a:r>
            <a:r>
              <a:rPr kumimoji="0" lang="en-US" alt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4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  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sym typeface="Symbol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			(moved decimal 4 places to left)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			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0.0021 = 2.1  10</a:t>
            </a:r>
            <a:r>
              <a:rPr kumimoji="0" lang="en-US" alt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-3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sym typeface="Symbol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18" charset="2"/>
              </a:rPr>
              <a:t>			(moved decimal 3 places to right)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68047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8F541A-9A28-4859-B03C-C5543B9E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Scientific Notation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77F5404-5675-4654-82BF-CD7F3D76BD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81200" y="1354660"/>
            <a:ext cx="8229600" cy="1043940"/>
          </a:xfrm>
        </p:spPr>
        <p:txBody>
          <a:bodyPr/>
          <a:lstStyle/>
          <a:p>
            <a:pPr algn="ctr"/>
            <a:r>
              <a:rPr lang="en-US" dirty="0"/>
              <a:t>The number of atoms in 12 g of carbon:</a:t>
            </a:r>
          </a:p>
          <a:p>
            <a:pPr marL="0" indent="0" algn="ctr">
              <a:buNone/>
            </a:pPr>
            <a:r>
              <a:rPr lang="en-US" dirty="0"/>
              <a:t>602,200,000,000,000,000,000,000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CF99D204-CA69-4F1D-92AB-3774B931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756" y="2243902"/>
          <a:ext cx="179546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5568" imgH="435864" progId="Equation.DSMT4">
                  <p:embed/>
                </p:oleObj>
              </mc:Choice>
              <mc:Fallback>
                <p:oleObj name="Equation" r:id="rId2" imgW="1795568" imgH="435864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CF99D204-CA69-4F1D-92AB-3774B931CED8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81756" y="2243902"/>
                        <a:ext cx="1795463" cy="436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1B39BA3-0A28-4AC8-9C18-5D2D7E5D49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81200" y="3276776"/>
            <a:ext cx="8229600" cy="1368552"/>
          </a:xfrm>
        </p:spPr>
        <p:txBody>
          <a:bodyPr/>
          <a:lstStyle/>
          <a:p>
            <a:pPr algn="ctr"/>
            <a:r>
              <a:rPr lang="en-US" dirty="0"/>
              <a:t>The mass of a single carbon atom in grams:</a:t>
            </a:r>
          </a:p>
          <a:p>
            <a:pPr marL="0" indent="0" algn="ctr">
              <a:buNone/>
            </a:pPr>
            <a:r>
              <a:rPr lang="en-US" dirty="0"/>
              <a:t>0.0000000000000000000000199</a:t>
            </a: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90CD3C5E-09E8-463B-8CB8-48018FF33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4950" y="4092576"/>
          <a:ext cx="156368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320" imgH="203040" progId="Equation.DSMT4">
                  <p:embed/>
                </p:oleObj>
              </mc:Choice>
              <mc:Fallback>
                <p:oleObj name="Equation" r:id="rId4" imgW="787320" imgH="20304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90CD3C5E-09E8-463B-8CB8-48018FF33A0E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14950" y="4092576"/>
                        <a:ext cx="1563688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A9DBA256-93C4-4FC5-9ADD-B503F28BE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7020" y="5070983"/>
          <a:ext cx="1305044" cy="464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203040" progId="Equation.DSMT4">
                  <p:embed/>
                </p:oleObj>
              </mc:Choice>
              <mc:Fallback>
                <p:oleObj name="Equation" r:id="rId6" imgW="571320" imgH="20304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A9DBA256-93C4-4FC5-9ADD-B503F28BEB30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87020" y="5070983"/>
                        <a:ext cx="1305044" cy="464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78AEA5-D54A-4B75-B4FC-B5670A17C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91542" y="5360895"/>
            <a:ext cx="2438400" cy="187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24B5249-39C3-4982-ACC3-A32EFA043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95779" y="5513295"/>
            <a:ext cx="2212891" cy="800100"/>
          </a:xfrm>
        </p:spPr>
        <p:txBody>
          <a:bodyPr>
            <a:normAutofit/>
          </a:bodyPr>
          <a:lstStyle/>
          <a:p>
            <a:pPr algn="ctr"/>
            <a:r>
              <a:rPr lang="en-US" sz="1800" i="1" dirty="0"/>
              <a:t>N</a:t>
            </a:r>
            <a:r>
              <a:rPr lang="en-US" sz="1800" dirty="0"/>
              <a:t> is a number between 1 and 10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DA2C76-E103-4759-B284-243271DF2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723058" y="5293839"/>
            <a:ext cx="711885" cy="28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7305101-5E52-4FB5-86AC-69D3B47970F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5893" y="5461127"/>
            <a:ext cx="1961693" cy="764652"/>
          </a:xfrm>
        </p:spPr>
        <p:txBody>
          <a:bodyPr>
            <a:normAutofit/>
          </a:bodyPr>
          <a:lstStyle/>
          <a:p>
            <a:pPr algn="ctr"/>
            <a:r>
              <a:rPr lang="en-US" sz="1800" i="1" dirty="0"/>
              <a:t>n</a:t>
            </a:r>
            <a:r>
              <a:rPr lang="en-US" sz="1800" dirty="0"/>
              <a:t> is a positive or negative integer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rtl="0"/>
            <a:fld id="{E61124D7-3D3F-409D-95D2-103C22DF228D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 defTabSz="457200" rtl="0"/>
              <a:t>3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08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1352118" y="1532082"/>
            <a:ext cx="8407481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25000"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Example: </a:t>
            </a:r>
            <a:r>
              <a:rPr lang="en-US" altLang="en-US" dirty="0">
                <a:solidFill>
                  <a:srgbClr val="4A452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For each of the following, express the magnitude using a scientific notation.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4A4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  20000000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4A4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B-  345000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4A4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  0.0000023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4A4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  0.00000006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4A4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  123402123100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1317482" y="4165495"/>
            <a:ext cx="6291402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25000"/>
            </a:pPr>
            <a:r>
              <a:rPr lang="en-US" altLang="en-US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Solution: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   2 x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10</a:t>
            </a:r>
            <a:r>
              <a:rPr lang="en-US" altLang="en-US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7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B-   3.45 x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10</a:t>
            </a:r>
            <a:r>
              <a:rPr lang="en-US" altLang="en-US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5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   2.3 x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10</a:t>
            </a:r>
            <a:r>
              <a:rPr lang="en-US" altLang="en-US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-6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   6 x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10</a:t>
            </a:r>
            <a:r>
              <a:rPr lang="en-US" altLang="en-US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-8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   1.2 x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10</a:t>
            </a:r>
            <a:r>
              <a:rPr lang="en-US" altLang="en-US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11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05346" y="487577"/>
            <a:ext cx="33645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Using Scientific Notation</a:t>
            </a: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2272146" y="1071707"/>
            <a:ext cx="64562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Arial" panose="020B0604020202020204" pitchFamily="34" charset="0"/>
              </a:rPr>
              <a:t>A x 10</a:t>
            </a:r>
            <a:r>
              <a:rPr kumimoji="0" lang="en-US" altLang="en-US" sz="2000" b="1" i="1" u="none" strike="noStrike" kern="0" cap="none" spc="0" normalizeH="0" baseline="3000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Arial" panose="020B0604020202020204" pitchFamily="34" charset="0"/>
              </a:rPr>
              <a:t>,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	where 1 ≤ A &lt; 10 and </a:t>
            </a: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is an integer</a:t>
            </a: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عنوان 1"/>
          <p:cNvSpPr>
            <a:spLocks noGrp="1"/>
          </p:cNvSpPr>
          <p:nvPr>
            <p:ph type="title"/>
          </p:nvPr>
        </p:nvSpPr>
        <p:spPr>
          <a:xfrm>
            <a:off x="1981200" y="0"/>
            <a:ext cx="9601200" cy="14859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Scientific Notation</a:t>
            </a:r>
          </a:p>
        </p:txBody>
      </p:sp>
    </p:spTree>
    <p:extLst>
      <p:ext uri="{BB962C8B-B14F-4D97-AF65-F5344CB8AC3E}">
        <p14:creationId xmlns:p14="http://schemas.microsoft.com/office/powerpoint/2010/main" val="21716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1156854" y="852055"/>
            <a:ext cx="5181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ar-S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Mathematical Manipulation: 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1461654" y="1461655"/>
            <a:ext cx="3124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The multiplication </a:t>
            </a:r>
          </a:p>
        </p:txBody>
      </p:sp>
      <p:sp>
        <p:nvSpPr>
          <p:cNvPr id="5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9155" y="2101334"/>
            <a:ext cx="4267200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noFill/>
                <a:latin typeface="Arial" panose="020B0604020202020204" pitchFamily="34" charset="0"/>
                <a:ea typeface="MS PGothic" panose="020B0600070205080204" pitchFamily="34" charset="-128"/>
              </a:rPr>
              <a:t> </a:t>
            </a:r>
          </a:p>
        </p:txBody>
      </p:sp>
      <p:sp>
        <p:nvSpPr>
          <p:cNvPr id="6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9155" y="2697481"/>
            <a:ext cx="6539845" cy="372410"/>
          </a:xfrm>
          <a:prstGeom prst="rect">
            <a:avLst/>
          </a:prstGeom>
          <a:blipFill>
            <a:blip r:embed="rId3"/>
            <a:stretch>
              <a:fillRect l="-839" t="-8197" b="-24590"/>
            </a:stretch>
          </a:blipFill>
        </p:spPr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noFill/>
                <a:latin typeface="Arial" panose="020B0604020202020204" pitchFamily="34" charset="0"/>
                <a:ea typeface="MS PGothic" panose="020B0600070205080204" pitchFamily="34" charset="-128"/>
              </a:rPr>
              <a:t> </a:t>
            </a:r>
          </a:p>
        </p:txBody>
      </p:sp>
      <p:sp>
        <p:nvSpPr>
          <p:cNvPr id="10" name="عنوان 1"/>
          <p:cNvSpPr>
            <a:spLocks noGrp="1"/>
          </p:cNvSpPr>
          <p:nvPr>
            <p:ph type="title"/>
          </p:nvPr>
        </p:nvSpPr>
        <p:spPr>
          <a:xfrm>
            <a:off x="1898073" y="64623"/>
            <a:ext cx="9601200" cy="14859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Scientific Notation</a:t>
            </a:r>
          </a:p>
        </p:txBody>
      </p:sp>
      <p:graphicFrame>
        <p:nvGraphicFramePr>
          <p:cNvPr id="11" name="Object 16">
            <a:extLst>
              <a:ext uri="{FF2B5EF4-FFF2-40B4-BE49-F238E27FC236}">
                <a16:creationId xmlns:a16="http://schemas.microsoft.com/office/drawing/2014/main" id="{61043DCE-A6D0-4E95-9C68-55B2A820B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109329"/>
              </p:ext>
            </p:extLst>
          </p:nvPr>
        </p:nvGraphicFramePr>
        <p:xfrm>
          <a:off x="2302621" y="3881289"/>
          <a:ext cx="29019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01696" imgH="493907" progId="Equation.DSMT4">
                  <p:embed/>
                </p:oleObj>
              </mc:Choice>
              <mc:Fallback>
                <p:oleObj name="Equation" r:id="rId4" imgW="2901696" imgH="493907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61043DCE-A6D0-4E95-9C68-55B2A820B383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2621" y="3881289"/>
                        <a:ext cx="29019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>
            <a:extLst>
              <a:ext uri="{FF2B5EF4-FFF2-40B4-BE49-F238E27FC236}">
                <a16:creationId xmlns:a16="http://schemas.microsoft.com/office/drawing/2014/main" id="{621786EF-A815-43EF-9A5C-18B059CF9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82967"/>
              </p:ext>
            </p:extLst>
          </p:nvPr>
        </p:nvGraphicFramePr>
        <p:xfrm>
          <a:off x="2381996" y="4452789"/>
          <a:ext cx="282257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22533" imgH="496791" progId="Equation.DSMT4">
                  <p:embed/>
                </p:oleObj>
              </mc:Choice>
              <mc:Fallback>
                <p:oleObj name="Equation" r:id="rId6" imgW="2822533" imgH="496791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621786EF-A815-43EF-9A5C-18B059CF91FD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81996" y="4452789"/>
                        <a:ext cx="2822575" cy="496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8">
            <a:extLst>
              <a:ext uri="{FF2B5EF4-FFF2-40B4-BE49-F238E27FC236}">
                <a16:creationId xmlns:a16="http://schemas.microsoft.com/office/drawing/2014/main" id="{FF4012F2-4C29-40DB-B14B-A7A27C2E4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523139"/>
              </p:ext>
            </p:extLst>
          </p:nvPr>
        </p:nvGraphicFramePr>
        <p:xfrm>
          <a:off x="3967136" y="4956190"/>
          <a:ext cx="1237435" cy="359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400" imgH="203040" progId="Equation.DSMT4">
                  <p:embed/>
                </p:oleObj>
              </mc:Choice>
              <mc:Fallback>
                <p:oleObj name="Equation" r:id="rId8" imgW="698400" imgH="20304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FF4012F2-4C29-40DB-B14B-A7A27C2E4924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67136" y="4956190"/>
                        <a:ext cx="1237435" cy="359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">
            <a:extLst>
              <a:ext uri="{FF2B5EF4-FFF2-40B4-BE49-F238E27FC236}">
                <a16:creationId xmlns:a16="http://schemas.microsoft.com/office/drawing/2014/main" id="{136EEB56-BA95-48D5-9A1E-171E7A975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761135"/>
              </p:ext>
            </p:extLst>
          </p:nvPr>
        </p:nvGraphicFramePr>
        <p:xfrm>
          <a:off x="3945774" y="5365765"/>
          <a:ext cx="105568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6880" imgH="203040" progId="Equation.DSMT4">
                  <p:embed/>
                </p:oleObj>
              </mc:Choice>
              <mc:Fallback>
                <p:oleObj name="Equation" r:id="rId10" imgW="596880" imgH="20304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136EEB56-BA95-48D5-9A1E-171E7A975D8C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45774" y="5365765"/>
                        <a:ext cx="1055688" cy="36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"/>
          <p:cNvSpPr txBox="1">
            <a:spLocks noChangeArrowheads="1"/>
          </p:cNvSpPr>
          <p:nvPr/>
        </p:nvSpPr>
        <p:spPr bwMode="auto">
          <a:xfrm>
            <a:off x="892218" y="3851030"/>
            <a:ext cx="3581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53770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1156854" y="852055"/>
            <a:ext cx="5181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ar-S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Mathematical Manipulation: 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1326883" y="1272713"/>
            <a:ext cx="3644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The division </a:t>
            </a:r>
          </a:p>
        </p:txBody>
      </p:sp>
      <p:sp>
        <p:nvSpPr>
          <p:cNvPr id="10" name="عنوان 1"/>
          <p:cNvSpPr>
            <a:spLocks noGrp="1"/>
          </p:cNvSpPr>
          <p:nvPr>
            <p:ph type="title"/>
          </p:nvPr>
        </p:nvSpPr>
        <p:spPr>
          <a:xfrm>
            <a:off x="1898073" y="64623"/>
            <a:ext cx="9601200" cy="14859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Scientific Notation</a:t>
            </a:r>
          </a:p>
        </p:txBody>
      </p:sp>
      <p:graphicFrame>
        <p:nvGraphicFramePr>
          <p:cNvPr id="11" name="Object 20">
            <a:extLst>
              <a:ext uri="{FF2B5EF4-FFF2-40B4-BE49-F238E27FC236}">
                <a16:creationId xmlns:a16="http://schemas.microsoft.com/office/drawing/2014/main" id="{2CB05C4D-5E7B-4511-8DA2-248A240BA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211272"/>
              </p:ext>
            </p:extLst>
          </p:nvPr>
        </p:nvGraphicFramePr>
        <p:xfrm>
          <a:off x="1898073" y="4067268"/>
          <a:ext cx="28860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28600" progId="Equation.DSMT4">
                  <p:embed/>
                </p:oleObj>
              </mc:Choice>
              <mc:Fallback>
                <p:oleObj name="Equation" r:id="rId2" imgW="1346040" imgH="22860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2CB05C4D-5E7B-4511-8DA2-248A240BAE24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98073" y="4067268"/>
                        <a:ext cx="2886075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1">
            <a:extLst>
              <a:ext uri="{FF2B5EF4-FFF2-40B4-BE49-F238E27FC236}">
                <a16:creationId xmlns:a16="http://schemas.microsoft.com/office/drawing/2014/main" id="{1A8060D0-AEAD-45DB-B078-7C2424291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382891"/>
              </p:ext>
            </p:extLst>
          </p:nvPr>
        </p:nvGraphicFramePr>
        <p:xfrm>
          <a:off x="2331832" y="4545147"/>
          <a:ext cx="2559017" cy="544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253800" progId="Equation.DSMT4">
                  <p:embed/>
                </p:oleObj>
              </mc:Choice>
              <mc:Fallback>
                <p:oleObj name="Equation" r:id="rId4" imgW="1193760" imgH="2538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1A8060D0-AEAD-45DB-B078-7C24242919D0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1832" y="4545147"/>
                        <a:ext cx="2559017" cy="5444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2">
            <a:extLst>
              <a:ext uri="{FF2B5EF4-FFF2-40B4-BE49-F238E27FC236}">
                <a16:creationId xmlns:a16="http://schemas.microsoft.com/office/drawing/2014/main" id="{D32BBE68-FD4D-4702-BD67-19D5E10C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756478"/>
              </p:ext>
            </p:extLst>
          </p:nvPr>
        </p:nvGraphicFramePr>
        <p:xfrm>
          <a:off x="3293562" y="5111240"/>
          <a:ext cx="1225062" cy="435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203040" progId="Equation.DSMT4">
                  <p:embed/>
                </p:oleObj>
              </mc:Choice>
              <mc:Fallback>
                <p:oleObj name="Equation" r:id="rId6" imgW="571320" imgH="20304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D32BBE68-FD4D-4702-BD67-19D5E10C05BD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93562" y="5111240"/>
                        <a:ext cx="1225062" cy="435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صورة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6883" y="1672823"/>
            <a:ext cx="6791533" cy="1103472"/>
          </a:xfrm>
          <a:prstGeom prst="rect">
            <a:avLst/>
          </a:prstGeom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892218" y="3851030"/>
            <a:ext cx="3581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363209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893470" y="4393868"/>
            <a:ext cx="3581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Example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239982" y="1305214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You should conjugate the power (the order) of the numbers during you make adding or subtracting 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2000" y="2743200"/>
            <a:ext cx="7162800" cy="1212640"/>
          </a:xfrm>
          <a:prstGeom prst="rect">
            <a:avLst/>
          </a:prstGeom>
          <a:blipFill>
            <a:blip r:embed="rId2"/>
            <a:stretch>
              <a:fillRect l="-681" t="-2010"/>
            </a:stretch>
          </a:blipFill>
        </p:spPr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noFill/>
                <a:latin typeface="Arial" panose="020B0604020202020204" pitchFamily="34" charset="0"/>
                <a:ea typeface="MS PGothic" panose="020B0600070205080204" pitchFamily="34" charset="-128"/>
              </a:rPr>
              <a:t> </a:t>
            </a:r>
          </a:p>
        </p:txBody>
      </p:sp>
      <p:sp>
        <p:nvSpPr>
          <p:cNvPr id="5" name="عنوان 1"/>
          <p:cNvSpPr txBox="1">
            <a:spLocks/>
          </p:cNvSpPr>
          <p:nvPr/>
        </p:nvSpPr>
        <p:spPr>
          <a:xfrm>
            <a:off x="2161309" y="149300"/>
            <a:ext cx="9601200" cy="148590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00B0F0"/>
                </a:solidFill>
              </a:rPr>
              <a:t> Scientific Notation</a:t>
            </a:r>
          </a:p>
        </p:txBody>
      </p:sp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4AEEE2A5-E4D8-470A-A57E-4FD9CE839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648536"/>
              </p:ext>
            </p:extLst>
          </p:nvPr>
        </p:nvGraphicFramePr>
        <p:xfrm>
          <a:off x="1350744" y="4880409"/>
          <a:ext cx="3124200" cy="416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64408" imgH="434422" progId="Equation.DSMT4">
                  <p:embed/>
                </p:oleObj>
              </mc:Choice>
              <mc:Fallback>
                <p:oleObj name="Equation" r:id="rId3" imgW="3264408" imgH="434422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AEEE2A5-E4D8-470A-A57E-4FD9CE83935E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0744" y="4880409"/>
                        <a:ext cx="3124200" cy="416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56D747AB-2AF7-4E6D-A6DD-D7DBF359B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024352"/>
              </p:ext>
            </p:extLst>
          </p:nvPr>
        </p:nvGraphicFramePr>
        <p:xfrm>
          <a:off x="1539720" y="5369495"/>
          <a:ext cx="3129262" cy="408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48249" imgH="435864" progId="Equation.DSMT4">
                  <p:embed/>
                </p:oleObj>
              </mc:Choice>
              <mc:Fallback>
                <p:oleObj name="Equation" r:id="rId5" imgW="3348249" imgH="435864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56D747AB-2AF7-4E6D-A6DD-D7DBF359B7A8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39720" y="5369495"/>
                        <a:ext cx="3129262" cy="408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AF455461-C052-4D1C-9911-8F3F1186B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059313"/>
              </p:ext>
            </p:extLst>
          </p:nvPr>
        </p:nvGraphicFramePr>
        <p:xfrm>
          <a:off x="2915892" y="5850260"/>
          <a:ext cx="13604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60890" imgH="435864" progId="Equation.DSMT4">
                  <p:embed/>
                </p:oleObj>
              </mc:Choice>
              <mc:Fallback>
                <p:oleObj name="Equation" r:id="rId7" imgW="1360890" imgH="435864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AF455461-C052-4D1C-9911-8F3F1186B040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15892" y="5850260"/>
                        <a:ext cx="1360487" cy="436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1239982" y="879764"/>
            <a:ext cx="3581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The addition and subtraction </a:t>
            </a:r>
          </a:p>
        </p:txBody>
      </p:sp>
    </p:spTree>
    <p:extLst>
      <p:ext uri="{BB962C8B-B14F-4D97-AF65-F5344CB8AC3E}">
        <p14:creationId xmlns:p14="http://schemas.microsoft.com/office/powerpoint/2010/main" val="187700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371600" y="173182"/>
            <a:ext cx="9601200" cy="14859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Significant figure</a:t>
            </a:r>
            <a:endParaRPr lang="ar-SA" dirty="0">
              <a:solidFill>
                <a:srgbClr val="00B0F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1233053" y="1229591"/>
            <a:ext cx="10958947" cy="3581400"/>
          </a:xfrm>
        </p:spPr>
        <p:txBody>
          <a:bodyPr>
            <a:normAutofit/>
          </a:bodyPr>
          <a:lstStyle/>
          <a:p>
            <a:pPr algn="l" rtl="0"/>
            <a:r>
              <a:rPr lang="en-US" sz="2400" dirty="0">
                <a:solidFill>
                  <a:srgbClr val="FF0000"/>
                </a:solidFill>
              </a:rPr>
              <a:t>Significant figures </a:t>
            </a:r>
            <a:r>
              <a:rPr lang="en-US" sz="2400" dirty="0"/>
              <a:t>in a measurement include all of the digits that are known, plus one more digit that is estimated.</a:t>
            </a:r>
          </a:p>
          <a:p>
            <a:pPr algn="l" rtl="0"/>
            <a:r>
              <a:rPr lang="en-US" sz="2400" dirty="0"/>
              <a:t>Measurements must be reported to the </a:t>
            </a:r>
            <a:r>
              <a:rPr lang="en-US" sz="2400" dirty="0">
                <a:solidFill>
                  <a:srgbClr val="FF0000"/>
                </a:solidFill>
              </a:rPr>
              <a:t>correct</a:t>
            </a:r>
            <a:r>
              <a:rPr lang="en-US" sz="2400" dirty="0"/>
              <a:t> number of significant figures.</a:t>
            </a:r>
          </a:p>
          <a:p>
            <a:pPr algn="l" rtl="0"/>
            <a:endParaRPr lang="ar-SA" sz="2400" dirty="0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 rotWithShape="1">
          <a:blip r:embed="rId2"/>
          <a:srcRect l="16575" t="23487" r="14742" b="29775"/>
          <a:stretch/>
        </p:blipFill>
        <p:spPr>
          <a:xfrm>
            <a:off x="5638800" y="3144982"/>
            <a:ext cx="6234545" cy="308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49927" y="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</a:rPr>
              <a:t>Significant figure properties</a:t>
            </a:r>
            <a:endParaRPr lang="ar-SA" sz="4000" dirty="0">
              <a:solidFill>
                <a:srgbClr val="00B0F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1011381" y="493569"/>
            <a:ext cx="8382000" cy="5599546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</a:pPr>
            <a:r>
              <a:rPr lang="en-US" b="1" dirty="0"/>
              <a:t>All numbers that are not zeros are significant.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For example 1.57 has 3Sig.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entury Gothic" panose="020B0502020202020204"/>
              </a:rPr>
              <a:t>- 37 </a:t>
            </a:r>
            <a:r>
              <a:rPr lang="en-US" sz="1800" dirty="0">
                <a:solidFill>
                  <a:prstClr val="black"/>
                </a:solidFill>
                <a:latin typeface="Century Gothic" panose="020B0502020202020204"/>
                <a:sym typeface="Wingdings" panose="05000000000000000000" pitchFamily="2" charset="2"/>
              </a:rPr>
              <a:t> 2 sig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entury Gothic" panose="020B0502020202020204"/>
                <a:sym typeface="Wingdings" panose="05000000000000000000" pitchFamily="2" charset="2"/>
              </a:rPr>
              <a:t>- 5006  4 sig        7030  3 sig</a:t>
            </a:r>
            <a:br>
              <a:rPr lang="en-US" sz="1800" dirty="0">
                <a:solidFill>
                  <a:prstClr val="black"/>
                </a:solidFill>
                <a:latin typeface="Century Gothic" panose="020B0502020202020204"/>
                <a:sym typeface="Wingdings" panose="05000000000000000000" pitchFamily="2" charset="2"/>
              </a:rPr>
            </a:br>
            <a:endParaRPr lang="en-US" dirty="0">
              <a:solidFill>
                <a:srgbClr val="FF0000"/>
              </a:solidFill>
            </a:endParaRP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- 4,0000 has 1Sig.</a:t>
            </a:r>
          </a:p>
          <a:p>
            <a:pPr algn="l" rtl="0">
              <a:lnSpc>
                <a:spcPct val="100000"/>
              </a:lnSpc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700000 has 1Sig.  </a:t>
            </a:r>
          </a:p>
          <a:p>
            <a:pPr marL="0" indent="0" algn="l" rtl="0">
              <a:lnSpc>
                <a:spcPct val="100000"/>
              </a:lnSpc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l" rtl="0">
              <a:lnSpc>
                <a:spcPct val="100000"/>
              </a:lnSpc>
            </a:pPr>
            <a:r>
              <a:rPr lang="en-US" b="1" dirty="0"/>
              <a:t>Zeros in the middle of non-zero numbers are significant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 	- For example 5.004 has 4Sig. While 5,400 has 2Sig.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              </a:t>
            </a:r>
            <a:r>
              <a:rPr lang="en-US" sz="1800" dirty="0">
                <a:solidFill>
                  <a:prstClr val="black"/>
                </a:solidFill>
                <a:latin typeface="Century Gothic" panose="020B0502020202020204"/>
                <a:sym typeface="Wingdings" panose="05000000000000000000" pitchFamily="2" charset="2"/>
              </a:rPr>
              <a:t>-  703  3 sig</a:t>
            </a:r>
            <a:endParaRPr lang="en-US" dirty="0">
              <a:solidFill>
                <a:srgbClr val="FF0000"/>
              </a:solidFill>
            </a:endParaRPr>
          </a:p>
          <a:p>
            <a:pPr algn="l" rtl="0">
              <a:lnSpc>
                <a:spcPct val="100000"/>
              </a:lnSpc>
            </a:pPr>
            <a:r>
              <a:rPr lang="en-US" b="1" dirty="0"/>
              <a:t>All numbers and Zeros before and after decimal are significant 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	- For example 27.200 has 5Sig.</a:t>
            </a:r>
            <a:r>
              <a:rPr lang="en-US" dirty="0"/>
              <a:t> 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entury Gothic" panose="020B0502020202020204"/>
                <a:sym typeface="Wingdings" panose="05000000000000000000" pitchFamily="2" charset="2"/>
              </a:rPr>
              <a:t>               - 7030.10  4sig</a:t>
            </a:r>
            <a:endParaRPr lang="en-US" dirty="0"/>
          </a:p>
          <a:p>
            <a:pPr marL="0" indent="0" algn="l" rtl="0">
              <a:lnSpc>
                <a:spcPct val="100000"/>
              </a:lnSpc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l" rtl="0">
              <a:lnSpc>
                <a:spcPct val="100000"/>
              </a:lnSpc>
            </a:pPr>
            <a:endParaRPr lang="ar-SA" dirty="0"/>
          </a:p>
        </p:txBody>
      </p:sp>
      <p:cxnSp>
        <p:nvCxnSpPr>
          <p:cNvPr id="4" name="Straight Arrow Connector 4"/>
          <p:cNvCxnSpPr/>
          <p:nvPr/>
        </p:nvCxnSpPr>
        <p:spPr>
          <a:xfrm flipH="1">
            <a:off x="3549427" y="2173547"/>
            <a:ext cx="10160" cy="375920"/>
          </a:xfrm>
          <a:prstGeom prst="straightConnector1">
            <a:avLst/>
          </a:prstGeom>
          <a:noFill/>
          <a:ln w="9525" cap="rnd" cmpd="sng" algn="ctr">
            <a:solidFill>
              <a:srgbClr val="A53010">
                <a:shade val="9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" name="Straight Arrow Connector 7"/>
          <p:cNvCxnSpPr/>
          <p:nvPr/>
        </p:nvCxnSpPr>
        <p:spPr>
          <a:xfrm flipV="1">
            <a:off x="3569747" y="2579947"/>
            <a:ext cx="426720" cy="10160"/>
          </a:xfrm>
          <a:prstGeom prst="straightConnector1">
            <a:avLst/>
          </a:prstGeom>
          <a:noFill/>
          <a:ln w="9525" cap="rnd" cmpd="sng" algn="ctr">
            <a:solidFill>
              <a:srgbClr val="A53010">
                <a:shade val="90000"/>
              </a:srgbClr>
            </a:solidFill>
            <a:prstDash val="solid"/>
            <a:tailEnd type="triangle"/>
          </a:ln>
          <a:effectLst/>
        </p:spPr>
      </p:cxnSp>
      <p:sp>
        <p:nvSpPr>
          <p:cNvPr id="6" name="Rectangle 8"/>
          <p:cNvSpPr/>
          <p:nvPr/>
        </p:nvSpPr>
        <p:spPr>
          <a:xfrm>
            <a:off x="3996467" y="2349412"/>
            <a:ext cx="181491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en-US" sz="20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  <a:t>Not counting</a:t>
            </a:r>
          </a:p>
        </p:txBody>
      </p:sp>
    </p:spTree>
    <p:extLst>
      <p:ext uri="{BB962C8B-B14F-4D97-AF65-F5344CB8AC3E}">
        <p14:creationId xmlns:p14="http://schemas.microsoft.com/office/powerpoint/2010/main" val="4007151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49927" y="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</a:rPr>
              <a:t>Significant figure properties</a:t>
            </a:r>
            <a:endParaRPr lang="ar-SA" sz="400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عنصر نائب للمحتوى 2"/>
              <p:cNvSpPr>
                <a:spLocks noGrp="1"/>
              </p:cNvSpPr>
              <p:nvPr>
                <p:ph idx="1"/>
              </p:nvPr>
            </p:nvSpPr>
            <p:spPr>
              <a:xfrm>
                <a:off x="1011381" y="493569"/>
                <a:ext cx="8382000" cy="5599546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en-US" b="1" dirty="0">
                    <a:solidFill>
                      <a:srgbClr val="1A2E40"/>
                    </a:solidFill>
                  </a:rPr>
                  <a:t>Zeros in the beginning are not significant</a:t>
                </a:r>
              </a:p>
              <a:p>
                <a:pPr marL="0" lvl="0" indent="0" algn="l" rtl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For example 0.00020 has 2Sig </a:t>
                </a:r>
              </a:p>
              <a:p>
                <a:pPr marL="0" lvl="0" indent="0" algn="l" rtl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0.0004 has 1Sig </a:t>
                </a:r>
              </a:p>
              <a:p>
                <a:pPr lvl="0" algn="l" rtl="0">
                  <a:lnSpc>
                    <a:spcPct val="100000"/>
                  </a:lnSpc>
                </a:pPr>
                <a:r>
                  <a:rPr lang="en-US" b="1" dirty="0">
                    <a:solidFill>
                      <a:srgbClr val="1A2E40"/>
                    </a:solidFill>
                  </a:rPr>
                  <a:t>Zeros and coefficients in scientific notation are significant</a:t>
                </a:r>
              </a:p>
              <a:p>
                <a:pPr marL="0" lvl="0" indent="0" algn="l" rtl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For example 2.0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has 2Sig </a:t>
                </a:r>
              </a:p>
              <a:p>
                <a:pPr marL="0" lvl="0" indent="0" algn="l" rtl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3,004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has 4Sig </a:t>
                </a:r>
              </a:p>
              <a:p>
                <a:pPr marL="0" indent="0" algn="l" rtl="0">
                  <a:lnSpc>
                    <a:spcPct val="100000"/>
                  </a:lnSpc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algn="l" rtl="0">
                  <a:lnSpc>
                    <a:spcPct val="100000"/>
                  </a:lnSpc>
                </a:pPr>
                <a:endParaRPr lang="ar-SA" dirty="0"/>
              </a:p>
            </p:txBody>
          </p:sp>
        </mc:Choice>
        <mc:Fallback xmlns="">
          <p:sp>
            <p:nvSpPr>
              <p:cNvPr id="3" name="عنصر نائب للمحتوى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1381" y="493569"/>
                <a:ext cx="8382000" cy="5599546"/>
              </a:xfrm>
              <a:blipFill>
                <a:blip r:embed="rId2"/>
                <a:stretch>
                  <a:fillRect l="-800" t="-653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086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49927" y="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</a:rPr>
              <a:t>Significant figure</a:t>
            </a:r>
            <a:endParaRPr lang="ar-SA" sz="4000" dirty="0">
              <a:solidFill>
                <a:srgbClr val="00B0F0"/>
              </a:solidFill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 bwMode="auto">
          <a:xfrm>
            <a:off x="1149927" y="872836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MS PGothic" panose="020B0600070205080204" pitchFamily="34" charset="-128"/>
                <a:cs typeface="ＭＳ Ｐゴシック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ＭＳ Ｐゴシック" pitchFamily="112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ＭＳ Ｐゴシック" pitchFamily="112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ＭＳ Ｐゴシック" pitchFamily="112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charset="0"/>
                <a:ea typeface="ＭＳ Ｐゴシック" pitchFamily="112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Check point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 noChangeArrowheads="1"/>
          </p:cNvSpPr>
          <p:nvPr/>
        </p:nvSpPr>
        <p:spPr bwMode="auto">
          <a:xfrm>
            <a:off x="1149927" y="1634836"/>
            <a:ext cx="822960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1pPr>
            <a:lvl2pPr marL="452438" indent="-223838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2pPr>
            <a:lvl3pPr marL="741363" indent="-174625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3pPr>
            <a:lvl4pPr marL="1028700" indent="-173038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4pPr>
            <a:lvl5pPr marL="1314450" indent="-1714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5pPr>
            <a:lvl6pPr marL="17716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6860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1432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How many significant figures in the following?</a:t>
            </a:r>
          </a:p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1.0070 m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55C91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 sig figs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17.10 kg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55C91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sig figs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100,890 L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55C91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 sig figs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3.29 x 10</a:t>
            </a:r>
            <a:r>
              <a:rPr kumimoji="0" lang="en-US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55C91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 sig figs</a:t>
            </a:r>
            <a:endParaRPr kumimoji="0" lang="en-US" altLang="en-US" sz="2400" b="0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0.0054 cm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55C91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 sig figs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3,200,000 mL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55C91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 sig figs</a:t>
            </a:r>
          </a:p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8592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49927" y="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</a:rPr>
              <a:t>Operations with Significant Figures – Multiplying or Dividing</a:t>
            </a:r>
            <a:endParaRPr lang="ar-SA" sz="4000" dirty="0">
              <a:solidFill>
                <a:srgbClr val="00B0F0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49927" y="1451481"/>
            <a:ext cx="9365674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1pPr>
            <a:lvl2pPr marL="452438" indent="-223838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2pPr>
            <a:lvl3pPr marL="741363" indent="-174625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3pPr>
            <a:lvl4pPr marL="1028700" indent="-173038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4pPr>
            <a:lvl5pPr marL="1314450" indent="-1714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5pPr>
            <a:lvl6pPr marL="17716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6860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1432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When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multiplying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or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dividing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several quantities, the number of significant figures in the final answer is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having the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smallest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number of significant figures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Example:  25.57 m x 2.45 m = 62.6 m</a:t>
            </a:r>
            <a:r>
              <a:rPr kumimoji="0" lang="en-US" altLang="en-US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2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452438" marR="0" lvl="1" indent="-223838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The 2.45 m limits your result to 3 significant figures.</a:t>
            </a:r>
          </a:p>
        </p:txBody>
      </p:sp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99510913-C235-44D4-9618-BB6AD7C9C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963240"/>
              </p:ext>
            </p:extLst>
          </p:nvPr>
        </p:nvGraphicFramePr>
        <p:xfrm>
          <a:off x="2228994" y="5048696"/>
          <a:ext cx="4468813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888840" progId="Equation.DSMT4">
                  <p:embed/>
                </p:oleObj>
              </mc:Choice>
              <mc:Fallback>
                <p:oleObj name="Equation" r:id="rId2" imgW="2323800" imgH="8888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9510913-C235-44D4-9618-BB6AD7C9CDDA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28994" y="5048696"/>
                        <a:ext cx="4468813" cy="171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882000" y="5048696"/>
            <a:ext cx="3581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740090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49927" y="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</a:rPr>
              <a:t>Operations with Significant Figures – Adding or Subtracting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399309" y="1420091"/>
            <a:ext cx="8769926" cy="2286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ＭＳ Ｐゴシック"/>
              </a:defRPr>
            </a:lvl1pPr>
            <a:lvl2pPr marL="452438" indent="-223838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ＭＳ Ｐゴシック"/>
              </a:defRPr>
            </a:lvl2pPr>
            <a:lvl3pPr marL="741363" indent="-174625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ＭＳ Ｐゴシック"/>
              </a:defRPr>
            </a:lvl3pPr>
            <a:lvl4pPr marL="1028700" indent="-173038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ＭＳ Ｐゴシック"/>
              </a:defRPr>
            </a:lvl4pPr>
            <a:lvl5pPr marL="1314450" indent="-1714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ＭＳ Ｐゴシック"/>
              </a:defRPr>
            </a:lvl5pPr>
            <a:lvl6pPr marL="17716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6860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1432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defRPr/>
            </a:pPr>
            <a:r>
              <a:rPr lang="en-US" altLang="en-US" sz="2000" kern="0" dirty="0">
                <a:solidFill>
                  <a:srgbClr val="000000"/>
                </a:solidFill>
                <a:latin typeface="Arial"/>
                <a:ea typeface="ＭＳ Ｐゴシック"/>
              </a:rPr>
              <a:t>The rule for </a:t>
            </a:r>
            <a:r>
              <a:rPr lang="en-US" altLang="en-US" sz="2000" kern="0" dirty="0">
                <a:solidFill>
                  <a:srgbClr val="FF0000"/>
                </a:solidFill>
                <a:latin typeface="Arial"/>
                <a:ea typeface="ＭＳ Ｐゴシック"/>
              </a:rPr>
              <a:t>addition</a:t>
            </a:r>
            <a:r>
              <a:rPr lang="en-US" altLang="en-US" sz="2000" kern="0" dirty="0">
                <a:solidFill>
                  <a:srgbClr val="000000"/>
                </a:solidFill>
                <a:latin typeface="Arial"/>
                <a:ea typeface="ＭＳ Ｐゴシック"/>
              </a:rPr>
              <a:t> and </a:t>
            </a:r>
            <a:r>
              <a:rPr lang="en-US" altLang="en-US" sz="2000" kern="0" dirty="0">
                <a:solidFill>
                  <a:srgbClr val="FF0000"/>
                </a:solidFill>
                <a:latin typeface="Arial"/>
                <a:ea typeface="ＭＳ Ｐゴシック"/>
              </a:rPr>
              <a:t>subtraction</a:t>
            </a:r>
            <a:r>
              <a:rPr lang="en-US" altLang="en-US" sz="2000" kern="0" dirty="0">
                <a:solidFill>
                  <a:srgbClr val="000000"/>
                </a:solidFill>
                <a:latin typeface="Arial"/>
                <a:ea typeface="ＭＳ Ｐゴシック"/>
              </a:rPr>
              <a:t> are different than the rule for multiplication and division.</a:t>
            </a:r>
          </a:p>
          <a:p>
            <a:pPr marL="0" indent="0" eaLnBrk="1" hangingPunct="1">
              <a:defRPr/>
            </a:pPr>
            <a:r>
              <a:rPr lang="en-US" altLang="en-US" sz="2000" kern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ＭＳ Ｐゴシック"/>
              </a:rPr>
              <a:t>For adding and subtracting, the </a:t>
            </a:r>
            <a:r>
              <a:rPr lang="en-US" altLang="en-US" sz="2000" b="1" i="1" u="sng" kern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ＭＳ Ｐゴシック"/>
              </a:rPr>
              <a:t>number of decimal places</a:t>
            </a:r>
            <a:r>
              <a:rPr lang="en-US" altLang="en-US" sz="2000" u="sng" kern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ＭＳ Ｐゴシック"/>
              </a:rPr>
              <a:t> </a:t>
            </a:r>
            <a:r>
              <a:rPr lang="en-US" altLang="en-US" sz="2000" kern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ＭＳ Ｐゴシック"/>
              </a:rPr>
              <a:t>is the important consideration.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399309" y="3105926"/>
            <a:ext cx="8458200" cy="120032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numbers are </a:t>
            </a:r>
            <a:r>
              <a:rPr lang="en-GB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subtracted</a:t>
            </a: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number of decimal places in the result should equal the </a:t>
            </a:r>
            <a:r>
              <a:rPr lang="en-GB" altLang="en-US" sz="2400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smallest number of decimal places </a:t>
            </a:r>
            <a:r>
              <a:rPr lang="en-GB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any term in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sum.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399309" y="4448953"/>
            <a:ext cx="969818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wBaskerville-Roman"/>
                <a:ea typeface="MS PGothic" panose="020B0600070205080204" pitchFamily="34" charset="-128"/>
              </a:rPr>
              <a:t>For example, if we wish to compute 123 +</a:t>
            </a: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thematicalPi-One"/>
                <a:ea typeface="MS PGothic" panose="020B0600070205080204" pitchFamily="34" charset="-128"/>
              </a:rPr>
              <a:t> </a:t>
            </a: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wBaskerville-Roman"/>
                <a:ea typeface="MS PGothic" panose="020B0600070205080204" pitchFamily="34" charset="-128"/>
              </a:rPr>
              <a:t>5.35 the answer is 128 and not 128.35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wBaskerville-Roman"/>
                <a:ea typeface="MS PGothic" panose="020B0600070205080204" pitchFamily="34" charset="-128"/>
              </a:rPr>
              <a:t>But if compute 123.1 + 5.32 the answer is  128.4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2000" kern="0" dirty="0">
                <a:solidFill>
                  <a:srgbClr val="000000"/>
                </a:solidFill>
                <a:latin typeface="NewBaskerville-Roman"/>
              </a:rPr>
              <a:t>                        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MS PGothic" panose="020B0600070205080204" pitchFamily="34" charset="-128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1156854" y="5526171"/>
            <a:ext cx="3581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SA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rPr>
              <a:t>Example</a:t>
            </a:r>
          </a:p>
        </p:txBody>
      </p:sp>
      <p:sp>
        <p:nvSpPr>
          <p:cNvPr id="9" name="مربع نص 8"/>
          <p:cNvSpPr txBox="1"/>
          <p:nvPr/>
        </p:nvSpPr>
        <p:spPr>
          <a:xfrm>
            <a:off x="2661917" y="5926281"/>
            <a:ext cx="415267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/>
              <a:t>66.59 – 3.113 = 63.477 round to 63.48 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758552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011382" y="166352"/>
            <a:ext cx="9601200" cy="1485900"/>
          </a:xfrm>
        </p:spPr>
        <p:txBody>
          <a:bodyPr/>
          <a:lstStyle/>
          <a:p>
            <a:r>
              <a:rPr lang="en-US" dirty="0"/>
              <a:t>Units and measurements </a:t>
            </a:r>
            <a:endParaRPr lang="ar-SA" dirty="0"/>
          </a:p>
        </p:txBody>
      </p:sp>
      <p:sp>
        <p:nvSpPr>
          <p:cNvPr id="3" name="مستطيل 2"/>
          <p:cNvSpPr/>
          <p:nvPr/>
        </p:nvSpPr>
        <p:spPr>
          <a:xfrm>
            <a:off x="1371598" y="1428750"/>
            <a:ext cx="10238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quantity</a:t>
            </a:r>
            <a:r>
              <a:rPr lang="en-US" dirty="0"/>
              <a:t> that can be measured.</a:t>
            </a:r>
          </a:p>
          <a:p>
            <a:pPr algn="l" rtl="0"/>
            <a:r>
              <a:rPr lang="en-US" dirty="0"/>
              <a:t>A quantity has numerical value and suitable unit of measurement. </a:t>
            </a:r>
          </a:p>
        </p:txBody>
      </p:sp>
      <p:graphicFrame>
        <p:nvGraphicFramePr>
          <p:cNvPr id="4" name="Group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4335561"/>
              </p:ext>
            </p:extLst>
          </p:nvPr>
        </p:nvGraphicFramePr>
        <p:xfrm>
          <a:off x="1371597" y="3355563"/>
          <a:ext cx="5250874" cy="3345295"/>
        </p:xfrm>
        <a:graphic>
          <a:graphicData uri="http://schemas.openxmlformats.org/drawingml/2006/table">
            <a:tbl>
              <a:tblPr/>
              <a:tblGrid>
                <a:gridCol w="262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196"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Quantity</a:t>
                      </a:r>
                    </a:p>
                  </a:txBody>
                  <a:tcPr marL="68576" marR="68576" marT="34281" marB="3428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D3857"/>
                    </a:solidFill>
                  </a:tcPr>
                </a:tc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SI Unit</a:t>
                      </a:r>
                    </a:p>
                  </a:txBody>
                  <a:tcPr marL="68576" marR="68576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D38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57"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</a:t>
                      </a:r>
                    </a:p>
                  </a:txBody>
                  <a:tcPr marL="68576" marR="68576" marT="34281" marB="3428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meter</a:t>
                      </a:r>
                    </a:p>
                  </a:txBody>
                  <a:tcPr marL="68576" marR="68576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157"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Mass</a:t>
                      </a:r>
                    </a:p>
                  </a:txBody>
                  <a:tcPr marL="68576" marR="68576" marT="34281" marB="3428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kilogram</a:t>
                      </a:r>
                    </a:p>
                  </a:txBody>
                  <a:tcPr marL="68576" marR="68576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157"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68576" marR="68576" marT="34281" marB="3428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</a:t>
                      </a:r>
                    </a:p>
                  </a:txBody>
                  <a:tcPr marL="68576" marR="68576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157"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Temperature</a:t>
                      </a:r>
                    </a:p>
                  </a:txBody>
                  <a:tcPr marL="68576" marR="68576" marT="34281" marB="3428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Kelvin</a:t>
                      </a:r>
                    </a:p>
                  </a:txBody>
                  <a:tcPr marL="68576" marR="68576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157"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Electric Current</a:t>
                      </a:r>
                    </a:p>
                  </a:txBody>
                  <a:tcPr marL="68576" marR="68576" marT="34281" marB="3428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Ampere</a:t>
                      </a:r>
                    </a:p>
                  </a:txBody>
                  <a:tcPr marL="68576" marR="68576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157"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Luminous Intensity</a:t>
                      </a:r>
                    </a:p>
                  </a:txBody>
                  <a:tcPr marL="68576" marR="68576" marT="34281" marB="3428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Candela</a:t>
                      </a:r>
                    </a:p>
                  </a:txBody>
                  <a:tcPr marL="68576" marR="68576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157"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Amount of Substance</a:t>
                      </a:r>
                    </a:p>
                  </a:txBody>
                  <a:tcPr marL="68576" marR="68576" marT="34281" marB="3428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1pPr>
                      <a:lvl2pPr marL="457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2pPr>
                      <a:lvl3pPr marL="914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3pPr>
                      <a:lvl4pPr marL="1371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4pPr>
                      <a:lvl5pPr marL="18288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5pPr>
                      <a:lvl6pPr marL="22860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6pPr>
                      <a:lvl7pPr marL="27432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7pPr>
                      <a:lvl8pPr marL="32004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8pPr>
                      <a:lvl9pPr marL="3657600" algn="r" defTabSz="914400" rtl="1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mole</a:t>
                      </a:r>
                    </a:p>
                  </a:txBody>
                  <a:tcPr marL="68576" marR="68576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مستطيل 4"/>
          <p:cNvSpPr/>
          <p:nvPr/>
        </p:nvSpPr>
        <p:spPr>
          <a:xfrm>
            <a:off x="1371597" y="2068991"/>
            <a:ext cx="82157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lvl="0" indent="-214313" algn="l" rtl="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Arial" panose="020B0604020202020204" pitchFamily="34" charset="0"/>
              </a:rPr>
              <a:t>For example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Arial" panose="020B0604020202020204" pitchFamily="34" charset="0"/>
              </a:rPr>
              <a:t>, temperature 30 degrees Celsius, 30 is numerical value &amp; ‘degree Celsius’ is  the unit and can be written as 30</a:t>
            </a:r>
            <a:r>
              <a:rPr lang="en-US" altLang="en-US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Arial" panose="020B0604020202020204" pitchFamily="34" charset="0"/>
              </a:rPr>
              <a:t>o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Arial" panose="020B0604020202020204" pitchFamily="34" charset="0"/>
              </a:rPr>
              <a:t> C.</a:t>
            </a:r>
            <a:r>
              <a:rPr lang="en-US" altLang="en-US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2791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/>
          <p:cNvSpPr txBox="1"/>
          <p:nvPr/>
        </p:nvSpPr>
        <p:spPr>
          <a:xfrm>
            <a:off x="1011382" y="1310504"/>
            <a:ext cx="5064207" cy="107721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7030A0"/>
                </a:solidFill>
                <a:latin typeface="Andalus" panose="02020603050405020304" pitchFamily="18" charset="-78"/>
                <a:ea typeface="MS PGothic" panose="020B0600070205080204" pitchFamily="34" charset="-128"/>
                <a:cs typeface="Andalus" panose="02020603050405020304" pitchFamily="18" charset="-78"/>
              </a:rPr>
              <a:t>- Basic </a:t>
            </a:r>
            <a:r>
              <a:rPr lang="en-US" sz="2400" dirty="0">
                <a:solidFill>
                  <a:srgbClr val="7030A0"/>
                </a:solidFill>
                <a:latin typeface="Andalus" panose="02020603050405020304" pitchFamily="18" charset="-78"/>
                <a:ea typeface="MS PGothic" panose="020B0600070205080204" pitchFamily="34" charset="-128"/>
                <a:cs typeface="Andalus" panose="02020603050405020304" pitchFamily="18" charset="-78"/>
              </a:rPr>
              <a:t>(fundamental) </a:t>
            </a:r>
            <a:r>
              <a:rPr lang="en-US" sz="3200" dirty="0">
                <a:solidFill>
                  <a:srgbClr val="7030A0"/>
                </a:solidFill>
                <a:latin typeface="Andalus" panose="02020603050405020304" pitchFamily="18" charset="-78"/>
                <a:ea typeface="MS PGothic" panose="020B0600070205080204" pitchFamily="34" charset="-128"/>
                <a:cs typeface="Andalus" panose="02020603050405020304" pitchFamily="18" charset="-78"/>
              </a:rPr>
              <a:t>quantities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7030A0"/>
                </a:solidFill>
                <a:latin typeface="Andalus" panose="02020603050405020304" pitchFamily="18" charset="-78"/>
                <a:ea typeface="MS PGothic" panose="020B0600070205080204" pitchFamily="34" charset="-128"/>
                <a:cs typeface="Andalus" panose="02020603050405020304" pitchFamily="18" charset="-78"/>
              </a:rPr>
              <a:t>- Derived quantities </a:t>
            </a:r>
            <a:endParaRPr lang="ar-SA" sz="3200" dirty="0">
              <a:solidFill>
                <a:srgbClr val="7030A0"/>
              </a:solidFill>
              <a:latin typeface="Andalus" panose="02020603050405020304" pitchFamily="18" charset="-78"/>
              <a:ea typeface="MS PGothic" panose="020B0600070205080204" pitchFamily="34" charset="-128"/>
              <a:cs typeface="Andalus" panose="02020603050405020304" pitchFamily="18" charset="-78"/>
            </a:endParaRPr>
          </a:p>
        </p:txBody>
      </p:sp>
      <p:sp>
        <p:nvSpPr>
          <p:cNvPr id="4" name="مربع نص 3"/>
          <p:cNvSpPr txBox="1"/>
          <p:nvPr/>
        </p:nvSpPr>
        <p:spPr>
          <a:xfrm flipH="1">
            <a:off x="1011382" y="811895"/>
            <a:ext cx="616527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b="1" dirty="0"/>
              <a:t>Quantities are classified as</a:t>
            </a:r>
            <a:endParaRPr lang="ar-SA" sz="2400" b="1" dirty="0"/>
          </a:p>
        </p:txBody>
      </p:sp>
      <p:sp>
        <p:nvSpPr>
          <p:cNvPr id="5" name="مستطيل 4"/>
          <p:cNvSpPr/>
          <p:nvPr/>
        </p:nvSpPr>
        <p:spPr>
          <a:xfrm>
            <a:off x="942851" y="2778187"/>
            <a:ext cx="5132738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kern="0" dirty="0">
                <a:solidFill>
                  <a:srgbClr val="000000"/>
                </a:solidFill>
                <a:latin typeface="Arial"/>
                <a:ea typeface="MS PGothic" panose="020B0600070205080204" pitchFamily="34" charset="-128"/>
              </a:rPr>
              <a:t>1- T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hree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basic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ndalus" panose="02020603050405020304" pitchFamily="18" charset="-78"/>
                <a:ea typeface="MS PGothic" panose="020B0600070205080204" pitchFamily="34" charset="-128"/>
                <a:cs typeface="Andalus" panose="02020603050405020304" pitchFamily="18" charset="-78"/>
              </a:rPr>
              <a:t>(fundamental )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quantities are:</a:t>
            </a:r>
          </a:p>
          <a:p>
            <a:pPr marL="452438" marR="0" lvl="1" indent="-2238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Length</a:t>
            </a:r>
          </a:p>
          <a:p>
            <a:pPr marL="452438" marR="0" lvl="1" indent="-2238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Mass</a:t>
            </a:r>
          </a:p>
          <a:p>
            <a:pPr marL="452438" marR="0" lvl="1" indent="-2238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Time</a:t>
            </a:r>
          </a:p>
          <a:p>
            <a:pPr marL="0" marR="0" lvl="0" indent="0" algn="l" defTabSz="914400" rtl="0" eaLnBrk="1" fontAlgn="base" latinLnBrk="0" hangingPunct="1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All other quantities can be expressed in terms of the three fundamental quantities </a:t>
            </a:r>
            <a:endParaRPr kumimoji="0" lang="ar-SA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عنوان 1"/>
          <p:cNvSpPr>
            <a:spLocks noGrp="1"/>
          </p:cNvSpPr>
          <p:nvPr>
            <p:ph type="title"/>
          </p:nvPr>
        </p:nvSpPr>
        <p:spPr>
          <a:xfrm>
            <a:off x="1011382" y="166352"/>
            <a:ext cx="9601200" cy="1485900"/>
          </a:xfrm>
        </p:spPr>
        <p:txBody>
          <a:bodyPr/>
          <a:lstStyle/>
          <a:p>
            <a:r>
              <a:rPr lang="en-US" dirty="0"/>
              <a:t>Units and measurements </a:t>
            </a:r>
            <a:endParaRPr lang="ar-SA" dirty="0"/>
          </a:p>
        </p:txBody>
      </p:sp>
      <p:sp>
        <p:nvSpPr>
          <p:cNvPr id="7" name="Content Placeholder 2"/>
          <p:cNvSpPr txBox="1">
            <a:spLocks noChangeArrowheads="1"/>
          </p:cNvSpPr>
          <p:nvPr/>
        </p:nvSpPr>
        <p:spPr bwMode="auto">
          <a:xfrm>
            <a:off x="6626121" y="2660072"/>
            <a:ext cx="5565879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1pPr>
            <a:lvl2pPr marL="452438" indent="-223838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2pPr>
            <a:lvl3pPr marL="741363" indent="-174625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3pPr>
            <a:lvl4pPr marL="1028700" indent="-173038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4pPr>
            <a:lvl5pPr marL="1314450" indent="-1714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/>
              </a:defRPr>
            </a:lvl5pPr>
            <a:lvl6pPr marL="17716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26860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143250" indent="-171450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Font typeface="Wingdings" pitchFamily="112" charset="2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2- Derived quantities can be expressed as a mathematical combination of fundamental quantities.</a:t>
            </a:r>
          </a:p>
          <a:p>
            <a:pPr marL="0" marR="0" lvl="0" indent="0" algn="l" defTabSz="914400" rtl="0" eaLnBrk="1" fontAlgn="base" latinLnBrk="0" hangingPunct="1">
              <a:lnSpc>
                <a:spcPts val="22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Examples:</a:t>
            </a:r>
          </a:p>
          <a:p>
            <a:pPr marL="452438" marR="0" lvl="1" indent="-2238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Area</a:t>
            </a:r>
          </a:p>
          <a:p>
            <a:pPr marL="741363" marR="0" lvl="2" indent="-174625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A product of two lengths</a:t>
            </a:r>
          </a:p>
          <a:p>
            <a:pPr marL="452438" marR="0" lvl="1" indent="-2238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Speed</a:t>
            </a:r>
          </a:p>
          <a:p>
            <a:pPr marL="741363" marR="0" lvl="2" indent="-174625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A ratio of a length to a time interval</a:t>
            </a:r>
          </a:p>
          <a:p>
            <a:pPr marL="452438" marR="0" lvl="1" indent="-2238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Density</a:t>
            </a:r>
          </a:p>
          <a:p>
            <a:pPr marL="741363" marR="0" lvl="2" indent="-174625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2187B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A ratio of mass to volume</a:t>
            </a:r>
          </a:p>
        </p:txBody>
      </p:sp>
      <p:cxnSp>
        <p:nvCxnSpPr>
          <p:cNvPr id="9" name="رابط مستقيم 8"/>
          <p:cNvCxnSpPr/>
          <p:nvPr/>
        </p:nvCxnSpPr>
        <p:spPr>
          <a:xfrm>
            <a:off x="6310746" y="2431471"/>
            <a:ext cx="0" cy="3657601"/>
          </a:xfrm>
          <a:prstGeom prst="line">
            <a:avLst/>
          </a:prstGeom>
          <a:ln w="762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366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49927" y="161926"/>
            <a:ext cx="9601200" cy="1485900"/>
          </a:xfrm>
        </p:spPr>
        <p:txBody>
          <a:bodyPr/>
          <a:lstStyle/>
          <a:p>
            <a:r>
              <a:rPr lang="en-US" dirty="0"/>
              <a:t>Units and measurements 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69CF10-1590-301A-EBB1-7D1F52A7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927" y="2171700"/>
            <a:ext cx="708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Density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: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 Amount of mass per unit volume of a substance.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21BBE6-F4B1-DD05-0722-FDD1DEB1E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127" y="2857501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SI Units: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 kg/m</a:t>
            </a:r>
            <a:r>
              <a:rPr kumimoji="0" lang="en-US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Common Units: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 g/cm</a:t>
            </a:r>
            <a:r>
              <a:rPr kumimoji="0" lang="en-US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3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or g/mL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E8D8952-17F4-AF1B-2408-30100AA48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128" y="4305300"/>
            <a:ext cx="7980363" cy="213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780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0D2AC8-8DBE-B814-CF5B-4B44A673D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691" y="1226127"/>
            <a:ext cx="563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Volume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: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 Amount of space occupied by a body.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7ED0A-D8BE-CBD5-3473-126228000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891" y="1864302"/>
            <a:ext cx="75438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SI Unit: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 cubic meter (m</a:t>
            </a:r>
            <a:r>
              <a:rPr kumimoji="0" lang="en-US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3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Common Units: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 Liter (L) or milliliter (mL) or cubic centimeter (cm</a:t>
            </a:r>
            <a:r>
              <a:rPr kumimoji="0" lang="en-US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3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D70520F-852C-155B-9EFE-BA7695A56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841" y="3054928"/>
            <a:ext cx="7486650" cy="338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مستطيل 5"/>
          <p:cNvSpPr/>
          <p:nvPr/>
        </p:nvSpPr>
        <p:spPr>
          <a:xfrm>
            <a:off x="942109" y="-62178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4400" dirty="0">
                <a:solidFill>
                  <a:srgbClr val="1A2E40"/>
                </a:solidFill>
                <a:ea typeface="+mj-ea"/>
                <a:cs typeface="+mj-cs"/>
              </a:rPr>
              <a:t>Units and measurements 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651882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Conversion of Units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76400"/>
            <a:ext cx="8229600" cy="1447800"/>
          </a:xfrm>
        </p:spPr>
        <p:txBody>
          <a:bodyPr/>
          <a:lstStyle/>
          <a:p>
            <a:pPr marL="0" indent="0" eaLnBrk="1" hangingPunct="1"/>
            <a:r>
              <a:rPr lang="en-US" altLang="en-US"/>
              <a:t>When units are not consistent, you may need to convert to appropriate ones.</a:t>
            </a:r>
          </a:p>
          <a:p>
            <a:pPr marL="0" indent="0" eaLnBrk="1" hangingPunct="1"/>
            <a:r>
              <a:rPr lang="en-US" altLang="en-US"/>
              <a:t>See Appendix A for an extensive list of conversion factors.</a:t>
            </a:r>
          </a:p>
          <a:p>
            <a:pPr marL="0" indent="0" eaLnBrk="1" hangingPunct="1"/>
            <a:r>
              <a:rPr lang="en-US" altLang="en-US"/>
              <a:t>Units can be treated like algebraic quantities that can cancel each other out.</a:t>
            </a:r>
          </a:p>
          <a:p>
            <a:pPr marL="0" indent="0" eaLnBrk="1" hangingPunct="1"/>
            <a:endParaRPr lang="en-US" altLang="en-US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505200"/>
            <a:ext cx="3925888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4070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ChangeArrowheads="1"/>
          </p:cNvSpPr>
          <p:nvPr/>
        </p:nvSpPr>
        <p:spPr bwMode="auto">
          <a:xfrm>
            <a:off x="1676400" y="1001714"/>
            <a:ext cx="845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600" b="1">
                <a:solidFill>
                  <a:srgbClr val="FF0000"/>
                </a:solidFill>
                <a:latin typeface="Times-Roman"/>
              </a:rPr>
              <a:t>Example:</a:t>
            </a:r>
            <a:r>
              <a:rPr lang="en-GB" altLang="en-US" sz="1600" b="1">
                <a:solidFill>
                  <a:srgbClr val="000000"/>
                </a:solidFill>
                <a:latin typeface="Times-Roman"/>
              </a:rPr>
              <a:t> </a:t>
            </a:r>
            <a:r>
              <a:rPr lang="en-GB" altLang="en-US">
                <a:solidFill>
                  <a:srgbClr val="000000"/>
                </a:solidFill>
                <a:latin typeface="Times-Roman"/>
              </a:rPr>
              <a:t>If a car speed is 130 km</a:t>
            </a:r>
            <a:r>
              <a:rPr lang="en-GB" altLang="en-US" sz="2400">
                <a:solidFill>
                  <a:srgbClr val="000000"/>
                </a:solidFill>
                <a:latin typeface="Times-Roman"/>
              </a:rPr>
              <a:t>/</a:t>
            </a:r>
            <a:r>
              <a:rPr lang="en-GB" altLang="en-US">
                <a:solidFill>
                  <a:srgbClr val="000000"/>
                </a:solidFill>
                <a:latin typeface="Times-Roman"/>
              </a:rPr>
              <a:t>h. Express this speed in meters per second. </a:t>
            </a:r>
            <a:endParaRPr lang="en-US" altLang="en-US" sz="4000">
              <a:solidFill>
                <a:srgbClr val="000000"/>
              </a:solidFill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1676400" y="1905000"/>
            <a:ext cx="807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solidFill>
                  <a:srgbClr val="EE1846"/>
                </a:solidFill>
                <a:latin typeface="Formata-Medium"/>
              </a:rPr>
              <a:t>SOLVE: </a:t>
            </a:r>
            <a:r>
              <a:rPr lang="en-GB" altLang="en-US" sz="800" b="1">
                <a:solidFill>
                  <a:srgbClr val="EE1846"/>
                </a:solidFill>
                <a:latin typeface="Formata-Medium"/>
              </a:rPr>
              <a:t> </a:t>
            </a:r>
            <a:r>
              <a:rPr lang="en-GB" altLang="en-US">
                <a:solidFill>
                  <a:srgbClr val="000000"/>
                </a:solidFill>
                <a:latin typeface="Times-Roman"/>
              </a:rPr>
              <a:t>We use the conversion factors with the problem solving </a:t>
            </a:r>
            <a:r>
              <a:rPr lang="en-US" altLang="en-US">
                <a:solidFill>
                  <a:srgbClr val="000000"/>
                </a:solidFill>
                <a:latin typeface="Times-Roman"/>
              </a:rPr>
              <a:t>strategy:</a:t>
            </a:r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822576"/>
            <a:ext cx="53086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4715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Conversion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en-US"/>
              <a:t>Always include units for every quantity, you can carry the units through the entire calculation.</a:t>
            </a:r>
          </a:p>
          <a:p>
            <a:pPr lvl="1" eaLnBrk="1" hangingPunct="1"/>
            <a:r>
              <a:rPr lang="en-US" altLang="en-US"/>
              <a:t>Will help detect possible errors</a:t>
            </a:r>
          </a:p>
          <a:p>
            <a:pPr marL="0" indent="0" eaLnBrk="1" hangingPunct="1"/>
            <a:r>
              <a:rPr lang="en-US" altLang="en-US"/>
              <a:t>Multiply original value by a ratio equal to one.</a:t>
            </a:r>
          </a:p>
          <a:p>
            <a:pPr marL="0" indent="0" eaLnBrk="1" hangingPunct="1"/>
            <a:r>
              <a:rPr lang="en-US" altLang="en-US"/>
              <a:t>Example:</a:t>
            </a:r>
            <a:br>
              <a:rPr lang="en-US" altLang="en-US"/>
            </a:br>
            <a:endParaRPr lang="en-US" altLang="en-US"/>
          </a:p>
          <a:p>
            <a:pPr marL="0" indent="0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Note the value inside the parentheses is equal to 1, since 1 inch is defined as 2.54 cm.</a:t>
            </a:r>
          </a:p>
        </p:txBody>
      </p:sp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2743200" y="3581400"/>
          <a:ext cx="28194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900" imgH="685800" progId="Equation.DSMT4">
                  <p:embed/>
                </p:oleObj>
              </mc:Choice>
              <mc:Fallback>
                <p:oleObj name="Equation" r:id="rId2" imgW="1866900" imgH="685800" progId="Equation.DSMT4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81400"/>
                        <a:ext cx="28194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Line 9"/>
          <p:cNvSpPr>
            <a:spLocks noChangeShapeType="1"/>
          </p:cNvSpPr>
          <p:nvPr/>
        </p:nvSpPr>
        <p:spPr bwMode="auto">
          <a:xfrm flipV="1">
            <a:off x="3276600" y="4191000"/>
            <a:ext cx="152400" cy="76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798" name="Line 9"/>
          <p:cNvSpPr>
            <a:spLocks noChangeShapeType="1"/>
          </p:cNvSpPr>
          <p:nvPr/>
        </p:nvSpPr>
        <p:spPr bwMode="auto">
          <a:xfrm flipV="1">
            <a:off x="3962400" y="4343400"/>
            <a:ext cx="304800" cy="152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مستطيل 1"/>
          <p:cNvSpPr/>
          <p:nvPr/>
        </p:nvSpPr>
        <p:spPr>
          <a:xfrm>
            <a:off x="6934201" y="3258235"/>
            <a:ext cx="307007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ln w="22225">
                  <a:solidFill>
                    <a:srgbClr val="055C91"/>
                  </a:solidFill>
                  <a:prstDash val="solid"/>
                </a:ln>
                <a:solidFill>
                  <a:srgbClr val="055C91">
                    <a:lumMod val="40000"/>
                    <a:lumOff val="60000"/>
                  </a:srgbClr>
                </a:solidFill>
                <a:latin typeface="Arial"/>
                <a:ea typeface="ＭＳ Ｐゴシック"/>
              </a:rPr>
              <a:t>1in = 2.54 cm</a:t>
            </a:r>
            <a:endParaRPr lang="ar-SA" sz="3600" b="1" dirty="0">
              <a:ln w="22225">
                <a:solidFill>
                  <a:srgbClr val="055C91"/>
                </a:solidFill>
                <a:prstDash val="solid"/>
              </a:ln>
              <a:solidFill>
                <a:srgbClr val="055C91">
                  <a:lumMod val="40000"/>
                  <a:lumOff val="60000"/>
                </a:srgbClr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656772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1636714" y="990600"/>
            <a:ext cx="57356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FF0000"/>
                </a:solidFill>
                <a:latin typeface="Times-Roman"/>
              </a:rPr>
              <a:t>Example:</a:t>
            </a:r>
            <a:r>
              <a:rPr lang="en-GB" altLang="en-US">
                <a:solidFill>
                  <a:srgbClr val="231F20"/>
                </a:solidFill>
                <a:latin typeface="Times-Roman"/>
              </a:rPr>
              <a:t>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231F20"/>
                </a:solidFill>
                <a:latin typeface="Times-Roman"/>
              </a:rPr>
              <a:t>The highest waterfall in the world is Angel Falls in Venezuela, with a total drop of 979.0 m (see Figure). Express this drop in feet.</a:t>
            </a:r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64" y="1143001"/>
            <a:ext cx="294163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1676400" y="2330450"/>
            <a:ext cx="5486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600">
                <a:solidFill>
                  <a:srgbClr val="FF0000"/>
                </a:solidFill>
                <a:latin typeface="Times-Roman"/>
              </a:rPr>
              <a:t>Solution:</a:t>
            </a:r>
            <a:r>
              <a:rPr lang="en-GB" altLang="en-US" sz="1600">
                <a:solidFill>
                  <a:srgbClr val="231F20"/>
                </a:solidFill>
                <a:latin typeface="Times-Roman"/>
              </a:rPr>
              <a:t> 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1600">
                <a:solidFill>
                  <a:srgbClr val="231F20"/>
                </a:solidFill>
                <a:latin typeface="Times-Roman"/>
              </a:rPr>
              <a:t>Since 3.281 feet =</a:t>
            </a:r>
            <a:r>
              <a:rPr lang="en-GB" altLang="en-US" sz="1600">
                <a:solidFill>
                  <a:srgbClr val="231F20"/>
                </a:solidFill>
                <a:latin typeface="MathematicalPi-One"/>
              </a:rPr>
              <a:t> </a:t>
            </a:r>
            <a:r>
              <a:rPr lang="en-GB" altLang="en-US" sz="1600">
                <a:solidFill>
                  <a:srgbClr val="231F20"/>
                </a:solidFill>
                <a:latin typeface="Times-Roman"/>
              </a:rPr>
              <a:t>1 meter, it follows that (3.281 feet)/(1 meter) </a:t>
            </a:r>
            <a:r>
              <a:rPr lang="en-GB" altLang="en-US" sz="1600">
                <a:solidFill>
                  <a:srgbClr val="231F20"/>
                </a:solidFill>
                <a:latin typeface="MathematicalPi-One"/>
              </a:rPr>
              <a:t> By u</a:t>
            </a:r>
            <a:r>
              <a:rPr lang="en-GB" altLang="en-US" sz="1600">
                <a:solidFill>
                  <a:srgbClr val="231F20"/>
                </a:solidFill>
                <a:latin typeface="Times-Roman"/>
              </a:rPr>
              <a:t>sing this factor of conversion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3482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3733800"/>
            <a:ext cx="57356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مستطيل 5"/>
          <p:cNvSpPr/>
          <p:nvPr/>
        </p:nvSpPr>
        <p:spPr>
          <a:xfrm>
            <a:off x="2719225" y="5119470"/>
            <a:ext cx="348044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ln w="22225">
                  <a:solidFill>
                    <a:srgbClr val="055C91"/>
                  </a:solidFill>
                  <a:prstDash val="solid"/>
                </a:ln>
                <a:solidFill>
                  <a:srgbClr val="055C91">
                    <a:lumMod val="40000"/>
                    <a:lumOff val="60000"/>
                  </a:srgbClr>
                </a:solidFill>
                <a:latin typeface="Arial"/>
                <a:ea typeface="ＭＳ Ｐゴシック"/>
              </a:rPr>
              <a:t>1m = 3.281 feet</a:t>
            </a:r>
            <a:endParaRPr lang="ar-SA" sz="3600" b="1" dirty="0">
              <a:ln w="22225">
                <a:solidFill>
                  <a:srgbClr val="055C91"/>
                </a:solidFill>
                <a:prstDash val="solid"/>
              </a:ln>
              <a:solidFill>
                <a:srgbClr val="055C91">
                  <a:lumMod val="40000"/>
                  <a:lumOff val="60000"/>
                </a:srgbClr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538578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676400" y="1360488"/>
            <a:ext cx="8839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an interstate highway in a rural region of Wyoming, a car is traveling at a speed of 38.0 m/s. Is the driver exceeding the speed limit of 75 mi/h or 120 km/h?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مستطيل 2"/>
          <p:cNvSpPr/>
          <p:nvPr/>
        </p:nvSpPr>
        <p:spPr>
          <a:xfrm>
            <a:off x="7086457" y="4095970"/>
            <a:ext cx="319831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ln w="22225">
                  <a:solidFill>
                    <a:srgbClr val="055C91"/>
                  </a:solidFill>
                  <a:prstDash val="solid"/>
                </a:ln>
                <a:solidFill>
                  <a:srgbClr val="055C91">
                    <a:lumMod val="40000"/>
                    <a:lumOff val="60000"/>
                  </a:srgbClr>
                </a:solidFill>
                <a:latin typeface="Arial"/>
                <a:ea typeface="ＭＳ Ｐゴシック"/>
              </a:rPr>
              <a:t>1 mi = 1609 m</a:t>
            </a:r>
            <a:endParaRPr lang="ar-SA" sz="3600" b="1" dirty="0">
              <a:ln w="22225">
                <a:solidFill>
                  <a:srgbClr val="055C91"/>
                </a:solidFill>
                <a:prstDash val="solid"/>
              </a:ln>
              <a:solidFill>
                <a:srgbClr val="055C91">
                  <a:lumMod val="40000"/>
                  <a:lumOff val="60000"/>
                </a:srgbClr>
              </a:solidFill>
              <a:latin typeface="Arial"/>
              <a:ea typeface="ＭＳ Ｐゴシック"/>
            </a:endParaRPr>
          </a:p>
        </p:txBody>
      </p:sp>
      <p:sp>
        <p:nvSpPr>
          <p:cNvPr id="4" name="مستطيل 3"/>
          <p:cNvSpPr/>
          <p:nvPr/>
        </p:nvSpPr>
        <p:spPr>
          <a:xfrm>
            <a:off x="6855624" y="4943695"/>
            <a:ext cx="365997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ln w="22225">
                  <a:solidFill>
                    <a:srgbClr val="055C91"/>
                  </a:solidFill>
                  <a:prstDash val="solid"/>
                </a:ln>
                <a:solidFill>
                  <a:srgbClr val="055C91">
                    <a:lumMod val="40000"/>
                    <a:lumOff val="60000"/>
                  </a:srgbClr>
                </a:solidFill>
                <a:latin typeface="Arial"/>
                <a:ea typeface="ＭＳ Ｐゴシック"/>
              </a:rPr>
              <a:t>1 mi = 1.609 Km</a:t>
            </a:r>
            <a:endParaRPr lang="ar-SA" sz="3600" b="1" dirty="0">
              <a:ln w="22225">
                <a:solidFill>
                  <a:srgbClr val="055C91"/>
                </a:solidFill>
                <a:prstDash val="solid"/>
              </a:ln>
              <a:solidFill>
                <a:srgbClr val="055C91">
                  <a:lumMod val="40000"/>
                  <a:lumOff val="60000"/>
                </a:srgbClr>
              </a:solidFill>
              <a:latin typeface="Arial"/>
              <a:ea typeface="ＭＳ Ｐゴシック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1" y="990601"/>
            <a:ext cx="97472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679701" y="920750"/>
            <a:ext cx="19800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MyriadPro-Black"/>
              </a:rPr>
              <a:t>Is He Speeding?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986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1" y="990601"/>
            <a:ext cx="97472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2679701" y="920750"/>
            <a:ext cx="19800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MyriadPro-Black"/>
              </a:rPr>
              <a:t>Is He Speeding?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1676400" y="1360488"/>
            <a:ext cx="8839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an interstate highway in a rural region of Wyoming, a car is traveling at a speed of 38.0 m/s. Is the driver exceeding the speed limit of 75 mi/h or 120 km/h?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6" y="2962275"/>
            <a:ext cx="364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4095750"/>
            <a:ext cx="49418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5305426"/>
            <a:ext cx="35242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1768475" y="2011363"/>
            <a:ext cx="1377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MyriadPro-Bold"/>
              </a:rPr>
              <a:t>SOLUTION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1654176" y="2432050"/>
            <a:ext cx="4006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  <a:latin typeface="NewBaskerville-Roman"/>
              </a:rPr>
              <a:t>Convert meters in the speed to miles: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1689101" y="3582988"/>
            <a:ext cx="28777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NewBaskerville-Roman"/>
              </a:rPr>
              <a:t>Convert seconds to hours: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1755775" y="5992814"/>
            <a:ext cx="70739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>
                <a:solidFill>
                  <a:srgbClr val="000000"/>
                </a:solidFill>
                <a:latin typeface="NewBaskerville-Roman"/>
              </a:rPr>
              <a:t>The driver is indeed exceeding the speed limit and should slow </a:t>
            </a:r>
            <a:r>
              <a:rPr lang="en-US" altLang="en-US">
                <a:solidFill>
                  <a:srgbClr val="000000"/>
                </a:solidFill>
                <a:latin typeface="NewBaskerville-Roman"/>
              </a:rPr>
              <a:t>down.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1714501" y="4733925"/>
            <a:ext cx="3031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NewBaskerville-Roman"/>
              </a:rPr>
              <a:t>Convert miles to kilometers:</a:t>
            </a:r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35853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1" y="1790125"/>
            <a:ext cx="2270125" cy="19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مستطيل 13"/>
          <p:cNvSpPr/>
          <p:nvPr/>
        </p:nvSpPr>
        <p:spPr>
          <a:xfrm>
            <a:off x="7086457" y="4095970"/>
            <a:ext cx="319831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ln w="22225">
                  <a:solidFill>
                    <a:srgbClr val="055C91"/>
                  </a:solidFill>
                  <a:prstDash val="solid"/>
                </a:ln>
                <a:solidFill>
                  <a:srgbClr val="055C91">
                    <a:lumMod val="40000"/>
                    <a:lumOff val="60000"/>
                  </a:srgbClr>
                </a:solidFill>
                <a:latin typeface="Arial"/>
                <a:ea typeface="ＭＳ Ｐゴシック"/>
              </a:rPr>
              <a:t>1 mi = 1609 m</a:t>
            </a:r>
            <a:endParaRPr lang="ar-SA" sz="3600" b="1" dirty="0">
              <a:ln w="22225">
                <a:solidFill>
                  <a:srgbClr val="055C91"/>
                </a:solidFill>
                <a:prstDash val="solid"/>
              </a:ln>
              <a:solidFill>
                <a:srgbClr val="055C91">
                  <a:lumMod val="40000"/>
                  <a:lumOff val="60000"/>
                </a:srgbClr>
              </a:solidFill>
              <a:latin typeface="Arial"/>
              <a:ea typeface="ＭＳ Ｐゴシック"/>
            </a:endParaRPr>
          </a:p>
        </p:txBody>
      </p:sp>
      <p:sp>
        <p:nvSpPr>
          <p:cNvPr id="15" name="مستطيل 14"/>
          <p:cNvSpPr/>
          <p:nvPr/>
        </p:nvSpPr>
        <p:spPr>
          <a:xfrm>
            <a:off x="6855624" y="4943695"/>
            <a:ext cx="365997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ln w="22225">
                  <a:solidFill>
                    <a:srgbClr val="055C91"/>
                  </a:solidFill>
                  <a:prstDash val="solid"/>
                </a:ln>
                <a:solidFill>
                  <a:srgbClr val="055C91">
                    <a:lumMod val="40000"/>
                    <a:lumOff val="60000"/>
                  </a:srgbClr>
                </a:solidFill>
                <a:latin typeface="Arial"/>
                <a:ea typeface="ＭＳ Ｐゴシック"/>
              </a:rPr>
              <a:t>1 mi = 1.609 Km</a:t>
            </a:r>
            <a:endParaRPr lang="ar-SA" sz="3600" b="1" dirty="0">
              <a:ln w="22225">
                <a:solidFill>
                  <a:srgbClr val="055C91"/>
                </a:solidFill>
                <a:prstDash val="solid"/>
              </a:ln>
              <a:solidFill>
                <a:srgbClr val="055C91">
                  <a:lumMod val="40000"/>
                  <a:lumOff val="60000"/>
                </a:srgbClr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4723974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CL Template">
  <a:themeElements>
    <a:clrScheme name="">
      <a:dk1>
        <a:srgbClr val="000000"/>
      </a:dk1>
      <a:lt1>
        <a:srgbClr val="FFFFFF"/>
      </a:lt1>
      <a:dk2>
        <a:srgbClr val="B0D3DF"/>
      </a:dk2>
      <a:lt2>
        <a:srgbClr val="81C0DA"/>
      </a:lt2>
      <a:accent1>
        <a:srgbClr val="0D3857"/>
      </a:accent1>
      <a:accent2>
        <a:srgbClr val="055C91"/>
      </a:accent2>
      <a:accent3>
        <a:srgbClr val="FFFFFF"/>
      </a:accent3>
      <a:accent4>
        <a:srgbClr val="000000"/>
      </a:accent4>
      <a:accent5>
        <a:srgbClr val="AAAEB4"/>
      </a:accent5>
      <a:accent6>
        <a:srgbClr val="045383"/>
      </a:accent6>
      <a:hlink>
        <a:srgbClr val="2187BA"/>
      </a:hlink>
      <a:folHlink>
        <a:srgbClr val="53A7CA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قص</Template>
  <TotalTime>15064</TotalTime>
  <Words>1244</Words>
  <Application>Microsoft Macintosh PowerPoint</Application>
  <PresentationFormat>Widescreen</PresentationFormat>
  <Paragraphs>183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42" baseType="lpstr">
      <vt:lpstr>MS PGothic</vt:lpstr>
      <vt:lpstr>Andalus</vt:lpstr>
      <vt:lpstr>Arial</vt:lpstr>
      <vt:lpstr>Calibri (Body)</vt:lpstr>
      <vt:lpstr>Cambria Math</vt:lpstr>
      <vt:lpstr>Century Gothic</vt:lpstr>
      <vt:lpstr>Formata-Medium</vt:lpstr>
      <vt:lpstr>Franklin Gothic Book</vt:lpstr>
      <vt:lpstr>MathematicalPi-One</vt:lpstr>
      <vt:lpstr>MyriadPro-Black</vt:lpstr>
      <vt:lpstr>MyriadPro-Bold</vt:lpstr>
      <vt:lpstr>NewBaskerville-Roman</vt:lpstr>
      <vt:lpstr>Times New Roman</vt:lpstr>
      <vt:lpstr>Times-Roman</vt:lpstr>
      <vt:lpstr>Wingdings</vt:lpstr>
      <vt:lpstr>Crop</vt:lpstr>
      <vt:lpstr>CL Template</vt:lpstr>
      <vt:lpstr>Default Design</vt:lpstr>
      <vt:lpstr>Equation</vt:lpstr>
      <vt:lpstr>Chapter 1</vt:lpstr>
      <vt:lpstr>Scientific Notation</vt:lpstr>
      <vt:lpstr>Scientific Notation</vt:lpstr>
      <vt:lpstr>Scientific Notation</vt:lpstr>
      <vt:lpstr>Scientific Notation</vt:lpstr>
      <vt:lpstr>Scientific Notation</vt:lpstr>
      <vt:lpstr>PowerPoint Presentation</vt:lpstr>
      <vt:lpstr>Significant figure</vt:lpstr>
      <vt:lpstr>Significant figure properties</vt:lpstr>
      <vt:lpstr>Significant figure properties</vt:lpstr>
      <vt:lpstr>Significant figure</vt:lpstr>
      <vt:lpstr>Operations with Significant Figures – Multiplying or Dividing</vt:lpstr>
      <vt:lpstr>Operations with Significant Figures – Adding or Subtracting</vt:lpstr>
      <vt:lpstr>Units and measurements </vt:lpstr>
      <vt:lpstr>Units and measurements </vt:lpstr>
      <vt:lpstr>Units and measurements </vt:lpstr>
      <vt:lpstr>PowerPoint Presentation</vt:lpstr>
      <vt:lpstr>Conversion of Units</vt:lpstr>
      <vt:lpstr>PowerPoint Presentation</vt:lpstr>
      <vt:lpstr>Conversion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HP</dc:creator>
  <cp:lastModifiedBy>balgees m</cp:lastModifiedBy>
  <cp:revision>45</cp:revision>
  <dcterms:created xsi:type="dcterms:W3CDTF">2023-01-25T17:48:06Z</dcterms:created>
  <dcterms:modified xsi:type="dcterms:W3CDTF">2025-09-03T10:49:14Z</dcterms:modified>
</cp:coreProperties>
</file>